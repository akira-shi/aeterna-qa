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8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596C9-8F54-45FF-BCCA-83D2426B1EDE}" v="6" dt="2026-08-18T05:28:28.38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0B2545"/>
                </a:solidFill>
              </a:rPr>
              <a:t>Live Groq run: 11 valid proposals, every ΔF1 below its threshold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ΔF1 (candidate − baseline)</c:v>
                </c:pt>
              </c:strCache>
            </c:strRef>
          </c:tx>
          <c:spPr>
            <a:solidFill>
              <a:srgbClr val="0B2545"/>
            </a:solidFill>
          </c:spPr>
          <c:invertIfNegative val="1"/>
          <c:cat>
            <c:strRef>
              <c:f>Sheet1!$A$2:$A$12</c:f>
              <c:strCache>
                <c:ptCount val="11"/>
                <c:pt idx="0">
                  <c:v>nc·mode</c:v>
                </c:pt>
                <c:pt idx="1">
                  <c:v>wc·mode</c:v>
                </c:pt>
                <c:pt idx="2">
                  <c:v>nc·unk</c:v>
                </c:pt>
                <c:pt idx="3">
                  <c:v>occ·mode</c:v>
                </c:pt>
                <c:pt idx="4">
                  <c:v>wc·unk</c:v>
                </c:pt>
                <c:pt idx="5">
                  <c:v>occ·unk</c:v>
                </c:pt>
                <c:pt idx="6">
                  <c:v>nc·drop</c:v>
                </c:pt>
                <c:pt idx="7">
                  <c:v>wc·drop</c:v>
                </c:pt>
                <c:pt idx="8">
                  <c:v>occ·drop</c:v>
                </c:pt>
                <c:pt idx="9">
                  <c:v>wc·mode</c:v>
                </c:pt>
                <c:pt idx="10">
                  <c:v>occ·mode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-1.5E-3</c:v>
                </c:pt>
                <c:pt idx="1">
                  <c:v>2.0000000000000001E-4</c:v>
                </c:pt>
                <c:pt idx="2">
                  <c:v>4.0000000000000002E-4</c:v>
                </c:pt>
                <c:pt idx="3">
                  <c:v>3.3999999999999998E-3</c:v>
                </c:pt>
                <c:pt idx="4">
                  <c:v>1E-3</c:v>
                </c:pt>
                <c:pt idx="5">
                  <c:v>1.1999999999999999E-3</c:v>
                </c:pt>
                <c:pt idx="6">
                  <c:v>-1E-4</c:v>
                </c:pt>
                <c:pt idx="7">
                  <c:v>2.0999999999999999E-3</c:v>
                </c:pt>
                <c:pt idx="8">
                  <c:v>1.5E-3</c:v>
                </c:pt>
                <c:pt idx="9">
                  <c:v>1.4E-3</c:v>
                </c:pt>
                <c:pt idx="10">
                  <c:v>-4.0000000000000002E-4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71C-44D6-A769-35906F3127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Commit threshold</c:v>
                </c:pt>
              </c:strCache>
            </c:strRef>
          </c:tx>
          <c:spPr>
            <a:solidFill>
              <a:srgbClr val="C18736"/>
            </a:solidFill>
          </c:spPr>
          <c:invertIfNegative val="1"/>
          <c:cat>
            <c:strRef>
              <c:f>Sheet1!$A$2:$A$12</c:f>
              <c:strCache>
                <c:ptCount val="11"/>
                <c:pt idx="0">
                  <c:v>nc·mode</c:v>
                </c:pt>
                <c:pt idx="1">
                  <c:v>wc·mode</c:v>
                </c:pt>
                <c:pt idx="2">
                  <c:v>nc·unk</c:v>
                </c:pt>
                <c:pt idx="3">
                  <c:v>occ·mode</c:v>
                </c:pt>
                <c:pt idx="4">
                  <c:v>wc·unk</c:v>
                </c:pt>
                <c:pt idx="5">
                  <c:v>occ·unk</c:v>
                </c:pt>
                <c:pt idx="6">
                  <c:v>nc·drop</c:v>
                </c:pt>
                <c:pt idx="7">
                  <c:v>wc·drop</c:v>
                </c:pt>
                <c:pt idx="8">
                  <c:v>occ·drop</c:v>
                </c:pt>
                <c:pt idx="9">
                  <c:v>wc·mode</c:v>
                </c:pt>
                <c:pt idx="10">
                  <c:v>occ·mode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8.0000000000000002E-3</c:v>
                </c:pt>
                <c:pt idx="1">
                  <c:v>7.0000000000000001E-3</c:v>
                </c:pt>
                <c:pt idx="2">
                  <c:v>8.0999999999999996E-3</c:v>
                </c:pt>
                <c:pt idx="3">
                  <c:v>6.0000000000000001E-3</c:v>
                </c:pt>
                <c:pt idx="4">
                  <c:v>8.2000000000000007E-3</c:v>
                </c:pt>
                <c:pt idx="5">
                  <c:v>7.9000000000000008E-3</c:v>
                </c:pt>
                <c:pt idx="6">
                  <c:v>6.6E-3</c:v>
                </c:pt>
                <c:pt idx="7">
                  <c:v>7.3000000000000001E-3</c:v>
                </c:pt>
                <c:pt idx="8">
                  <c:v>8.5000000000000006E-3</c:v>
                </c:pt>
                <c:pt idx="9">
                  <c:v>7.3000000000000001E-3</c:v>
                </c:pt>
                <c:pt idx="10">
                  <c:v>9.5999999999999992E-3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71C-44D6-A769-35906F3127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Title slide. Student and guide details carried over from the proposal deck.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Key message: the loop can say yes and no, and does not fool itself. Real data result is a correct 'no'.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The +0.0175 example is our own retracted result, used to motivate the leak-free evaluator.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hf hd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ooter Placeholder 18"/>
          <p:cNvSpPr txBox="1"/>
          <p:nvPr/>
        </p:nvSpPr>
        <p:spPr>
          <a:xfrm>
            <a:off x="4084319" y="6261615"/>
            <a:ext cx="4023362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sp>
        <p:nvSpPr>
          <p:cNvPr id="95" name="Straight Connector 13"/>
          <p:cNvSpPr/>
          <p:nvPr/>
        </p:nvSpPr>
        <p:spPr>
          <a:xfrm>
            <a:off x="592903" y="1958426"/>
            <a:ext cx="5855208" cy="1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00" name="Group 22"/>
          <p:cNvGrpSpPr/>
          <p:nvPr/>
        </p:nvGrpSpPr>
        <p:grpSpPr>
          <a:xfrm>
            <a:off x="313843" y="349465"/>
            <a:ext cx="11518409" cy="6218390"/>
            <a:chOff x="0" y="0"/>
            <a:chExt cx="11518407" cy="6218388"/>
          </a:xfrm>
        </p:grpSpPr>
        <p:sp>
          <p:nvSpPr>
            <p:cNvPr id="96" name="Rectangle 23"/>
            <p:cNvSpPr/>
            <p:nvPr/>
          </p:nvSpPr>
          <p:spPr>
            <a:xfrm>
              <a:off x="11472688" y="11259"/>
              <a:ext cx="45720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7" name="Rectangle 24"/>
            <p:cNvSpPr/>
            <p:nvPr/>
          </p:nvSpPr>
          <p:spPr>
            <a:xfrm rot="5400000">
              <a:off x="10962100" y="-510589"/>
              <a:ext cx="45720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8" name="Rectangle 25"/>
            <p:cNvSpPr/>
            <p:nvPr/>
          </p:nvSpPr>
          <p:spPr>
            <a:xfrm rot="5400000">
              <a:off x="510587" y="5662080"/>
              <a:ext cx="45720" cy="1066897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9" name="Rectangle 26"/>
            <p:cNvSpPr/>
            <p:nvPr/>
          </p:nvSpPr>
          <p:spPr>
            <a:xfrm rot="10800000">
              <a:off x="-1" y="5140232"/>
              <a:ext cx="45720" cy="1066897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01" name="Rectangle 18"/>
          <p:cNvSpPr txBox="1"/>
          <p:nvPr/>
        </p:nvSpPr>
        <p:spPr>
          <a:xfrm>
            <a:off x="170790" y="1256368"/>
            <a:ext cx="669943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600" b="1">
                <a:solidFill>
                  <a:srgbClr val="FF0000"/>
                </a:solidFill>
              </a:defRPr>
            </a:lvl1pPr>
          </a:lstStyle>
          <a:p>
            <a:r>
              <a:rPr dirty="0"/>
              <a:t>AETERNA</a:t>
            </a:r>
          </a:p>
        </p:txBody>
      </p:sp>
      <p:pic>
        <p:nvPicPr>
          <p:cNvPr id="102" name="Picture 1" descr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698" y="799681"/>
            <a:ext cx="1498748" cy="2460608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Rectangle 3"/>
          <p:cNvSpPr txBox="1"/>
          <p:nvPr/>
        </p:nvSpPr>
        <p:spPr>
          <a:xfrm>
            <a:off x="838199" y="5093800"/>
            <a:ext cx="4159433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Raghav Vasudevan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2000"/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SRN No: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PES1PG25CA1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70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2000"/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</a:t>
            </a:r>
          </a:p>
        </p:txBody>
      </p:sp>
      <p:sp>
        <p:nvSpPr>
          <p:cNvPr id="104" name="Rectangle 5"/>
          <p:cNvSpPr txBox="1"/>
          <p:nvPr/>
        </p:nvSpPr>
        <p:spPr>
          <a:xfrm>
            <a:off x="5866566" y="5141064"/>
            <a:ext cx="5487235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000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Guide : Dr.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Menaka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2000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>
              <a:defRPr sz="2000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Computer Applications</a:t>
            </a:r>
          </a:p>
        </p:txBody>
      </p:sp>
      <p:sp>
        <p:nvSpPr>
          <p:cNvPr id="105" name="TextBox 9"/>
          <p:cNvSpPr txBox="1"/>
          <p:nvPr/>
        </p:nvSpPr>
        <p:spPr>
          <a:xfrm>
            <a:off x="326997" y="2095247"/>
            <a:ext cx="6387020" cy="597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6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00" dirty="0">
                <a:latin typeface="Consolas" panose="020B0609020204030204" pitchFamily="49" charset="0"/>
              </a:rPr>
              <a:t>Autonomous Entity-Driven Verification &amp; Reasoning</a:t>
            </a:r>
            <a:br>
              <a:rPr sz="1800" dirty="0">
                <a:latin typeface="Consolas" panose="020B0609020204030204" pitchFamily="49" charset="0"/>
              </a:rPr>
            </a:br>
            <a:r>
              <a:rPr sz="1800" dirty="0">
                <a:latin typeface="Consolas" panose="020B0609020204030204" pitchFamily="49" charset="0"/>
              </a:rPr>
              <a:t>for Data Quality Assessment</a:t>
            </a:r>
          </a:p>
        </p:txBody>
      </p:sp>
      <p:sp>
        <p:nvSpPr>
          <p:cNvPr id="106" name="Slide Number Placeholder 11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34216"/>
            <a:ext cx="502920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88B4A-F7A2-904D-0BC6-C13721C27415}"/>
              </a:ext>
            </a:extLst>
          </p:cNvPr>
          <p:cNvSpPr txBox="1"/>
          <p:nvPr/>
        </p:nvSpPr>
        <p:spPr>
          <a:xfrm>
            <a:off x="648515" y="2848486"/>
            <a:ext cx="6094674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1600" dirty="0">
                <a:latin typeface="Consolas" panose="020B0609020204030204" pitchFamily="49" charset="0"/>
              </a:rPr>
              <a:t>Capstone Project — 50% Implementation Review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Abstract</a:t>
            </a:r>
            <a:r>
              <a:rPr sz="2400" b="1">
                <a:solidFill>
                  <a:srgbClr val="C18736"/>
                </a:solidFill>
                <a:latin typeface="Poppins"/>
              </a:rPr>
              <a:t> Project Overview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85800" y="1828800"/>
            <a:ext cx="676656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AETERNA-QA is an autonomous agent for tabular data cleaning that proves every repair before keeping it.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C232E"/>
                </a:solidFill>
                <a:latin typeface="Calibri"/>
              </a:rPr>
              <a:t>An LLM planner (Groq, gpt-oss-20b) reads a statistical profile of the dataset and proposes one cleaning operation from a fixed, safe menu. The executor applies it, and a leak-free evaluator retrains a downstream classifier on fixed cross-validation folds. The change is committed only if the F1 gain clears a statistically corrected threshold (Nadeau–Bengio corrected t-test, Bonferroni-adjusted); otherwise it is rolled back. Every decision is written to a JSON audit log.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232E"/>
                </a:solidFill>
                <a:latin typeface="Calibri"/>
              </a:rPr>
              <a:t>On the UCI Adult census data (real ‘?’ missingness in 3 columns), the agent tested 11 valid proposals and correctly committed none — matching an exhaustive 64-combination ground-truth search. A synthetic positive control (reversible noise injection) is in progress to demonstrate the commit path.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909560" y="219257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046720" y="2265723"/>
            <a:ext cx="14173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C18736"/>
                </a:solidFill>
                <a:latin typeface="Calibri"/>
              </a:rPr>
              <a:t>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418320" y="2265723"/>
            <a:ext cx="20116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B2545"/>
                </a:solidFill>
                <a:latin typeface="Calibri"/>
              </a:rPr>
              <a:t>pipeline modules working
end-to-end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909560" y="338129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046720" y="3454442"/>
            <a:ext cx="14173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C18736"/>
                </a:solidFill>
                <a:latin typeface="Calibri"/>
              </a:rPr>
              <a:t>0 / 11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18320" y="3454442"/>
            <a:ext cx="20116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B2545"/>
                </a:solidFill>
                <a:latin typeface="Calibri"/>
              </a:rPr>
              <a:t>real-data proposals committed
(correct: nothing helps)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909560" y="4570011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046720" y="4643163"/>
            <a:ext cx="14173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C18736"/>
                </a:solidFill>
                <a:latin typeface="Calibri"/>
              </a:rPr>
              <a:t>0 / 64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418320" y="4643163"/>
            <a:ext cx="201168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B2545"/>
                </a:solidFill>
                <a:latin typeface="Calibri"/>
              </a:rPr>
              <a:t>ground-truth combinations
clear the gate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Introduction</a:t>
            </a:r>
            <a:r>
              <a:rPr sz="2400" b="1">
                <a:solidFill>
                  <a:srgbClr val="C18736"/>
                </a:solidFill>
                <a:latin typeface="Poppins"/>
              </a:rPr>
              <a:t> Problem Scenario &amp; Proposed Solution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85800" y="2130947"/>
            <a:ext cx="5257800" cy="361188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68680" y="2222387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B16803"/>
                </a:solidFill>
                <a:latin typeface="Calibri"/>
              </a:rPr>
              <a:t>Problem scenario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680" y="2633867"/>
            <a:ext cx="493776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01168" indent="-164592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2C232E"/>
                </a:solidFill>
                <a:latin typeface="Calibri"/>
              </a:rPr>
              <a:t>Data preparation consumes most of a data scientist’s effort, yet cleaning is usually applied blindly.</a:t>
            </a:r>
          </a:p>
          <a:p>
            <a:pPr marL="201168" indent="-164592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2C232E"/>
                </a:solidFill>
                <a:latin typeface="Calibri"/>
              </a:rPr>
              <a:t>Most tools repair values (or benchmark repairs offline) without checking whether the downstream model actually improves.</a:t>
            </a:r>
          </a:p>
          <a:p>
            <a:pPr marL="201168" indent="-164592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2C232E"/>
                </a:solidFill>
                <a:latin typeface="Calibri"/>
              </a:rPr>
              <a:t>Benchmarks (CleanML, REIN) show cleaning can help, do nothing, or hurt — depending on error type and model.</a:t>
            </a:r>
          </a:p>
          <a:p>
            <a:pPr marL="201168" indent="-164592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2C232E"/>
                </a:solidFill>
                <a:latin typeface="Calibri"/>
              </a:rPr>
              <a:t>A naive evaluation can be fooled: in our own early build, dropping rows ‘improved’ F1 by +0.0175 only because hard rows left the test set.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250" b="0" i="0">
                <a:solidFill>
                  <a:srgbClr val="2C232E"/>
                </a:solidFill>
                <a:latin typeface="Calibri"/>
              </a:rPr>
              <a:t>Cleaning decisions are rarely logged or explained.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217920" y="2130947"/>
            <a:ext cx="5303520" cy="36118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400800" y="2222387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Proposed solution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00800" y="2633867"/>
            <a:ext cx="498348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 dirty="0">
                <a:solidFill>
                  <a:srgbClr val="0B2545"/>
                </a:solidFill>
                <a:latin typeface="Calibri"/>
              </a:rPr>
              <a:t>Profile → Plan → Execute → Verify → Commit/Rollback</a:t>
            </a:r>
          </a:p>
          <a:p>
            <a:pPr marL="201168" indent="-164592" algn="l">
              <a:spcAft>
                <a:spcPts val="600"/>
              </a:spcAft>
              <a:buChar char="•"/>
            </a:pPr>
            <a:r>
              <a:rPr sz="1250" b="0" i="0" dirty="0">
                <a:solidFill>
                  <a:srgbClr val="2C232E"/>
                </a:solidFill>
                <a:latin typeface="Calibri"/>
              </a:rPr>
              <a:t>An LLM planner chooses one repair at a time from a fixed operation menu (no free-form code execution).</a:t>
            </a:r>
          </a:p>
          <a:p>
            <a:pPr marL="201168" indent="-164592" algn="l">
              <a:spcAft>
                <a:spcPts val="600"/>
              </a:spcAft>
              <a:buChar char="•"/>
            </a:pPr>
            <a:r>
              <a:rPr sz="1250" b="0" i="0" dirty="0">
                <a:solidFill>
                  <a:srgbClr val="2C232E"/>
                </a:solidFill>
                <a:latin typeface="Calibri"/>
              </a:rPr>
              <a:t>A leak-free evaluator scores each candidate on fixed folds: statistics fitted on training rows only, test rows always raw.</a:t>
            </a:r>
          </a:p>
          <a:p>
            <a:pPr marL="201168" indent="-164592" algn="l">
              <a:spcAft>
                <a:spcPts val="600"/>
              </a:spcAft>
              <a:buChar char="•"/>
            </a:pPr>
            <a:r>
              <a:rPr sz="1250" b="0" i="0" dirty="0">
                <a:solidFill>
                  <a:srgbClr val="2C232E"/>
                </a:solidFill>
                <a:latin typeface="Calibri"/>
              </a:rPr>
              <a:t>Commit only if ΔF1 clears a corrected, multiple-comparison-adjusted threshold; otherwise roll back.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250" b="0" i="0" dirty="0">
                <a:solidFill>
                  <a:srgbClr val="2C232E"/>
                </a:solidFill>
                <a:latin typeface="Calibri"/>
              </a:rPr>
              <a:t>Every iteration is written to an audit log; an Explain module (in progress) turns it into plain English.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Introduction</a:t>
            </a:r>
            <a:r>
              <a:rPr sz="2400" b="1">
                <a:solidFill>
                  <a:srgbClr val="C18736"/>
                </a:solidFill>
                <a:latin typeface="Poppins"/>
              </a:rPr>
              <a:t> Purpose &amp; Scope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85800" y="1828800"/>
            <a:ext cx="10789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0B2545"/>
                </a:solidFill>
                <a:latin typeface="Calibri"/>
              </a:rPr>
              <a:t>Purpose: </a:t>
            </a:r>
            <a:r>
              <a:rPr sz="1400" b="0" i="0" dirty="0">
                <a:solidFill>
                  <a:srgbClr val="2C232E"/>
                </a:solidFill>
                <a:latin typeface="Calibri"/>
              </a:rPr>
              <a:t>build an agent that cleans a tabular dataset only when the cleaning measurably helps the downstream task, and can prove, log </a:t>
            </a:r>
            <a:br>
              <a:rPr lang="en-US" sz="1400" b="0" i="0" dirty="0">
                <a:solidFill>
                  <a:srgbClr val="2C232E"/>
                </a:solidFill>
                <a:latin typeface="Calibri"/>
              </a:rPr>
            </a:br>
            <a:r>
              <a:rPr sz="1400" b="0" i="0" dirty="0">
                <a:solidFill>
                  <a:srgbClr val="2C232E"/>
                </a:solidFill>
                <a:latin typeface="Calibri"/>
              </a:rPr>
              <a:t>and explain each decision — including the decision to do nothing.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85800" y="274320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22960" y="2816352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7D4F"/>
                </a:solidFill>
                <a:latin typeface="Calibri"/>
              </a:rPr>
              <a:t>In scope (this milestone)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2960" y="3200400"/>
            <a:ext cx="3246120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Single-table CSV data, binary classification target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Missing values; categorical inconsistencies (planned)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Fixed operation menu: fill_mean, fill_median, fill_mode, fill_unknown, drop_rows, clip_outliers (+ normalize_categories planned)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Downstream verifier: Random Forest; Logistic Regression as a declared second evaluator (planned)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JSON audit trail; plain-English Explain module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315968" y="274320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453128" y="2816352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03A2E"/>
                </a:solidFill>
                <a:latin typeface="Calibri"/>
              </a:rPr>
              <a:t>Out of scope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53128" y="3200400"/>
            <a:ext cx="3246120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Multi-table joins, schema mapping, reshaping (DeepPrep’s 31-operator space)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Training / fine-tuning the LLM (RL, GRPO) — inference only, free tier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Free-form code generation by the LLM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Regression targets, streaming data, deep models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946136" y="274320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083296" y="2816352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16803"/>
                </a:solidFill>
                <a:latin typeface="Calibri"/>
              </a:rPr>
              <a:t>Future scope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83296" y="3200400"/>
            <a:ext cx="3246120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Ensemble error detection (replaces IQR rule)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Second real dataset where cleaning measurably helps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Planner–critic review; backtracking over committed fixes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Learned operation policy (contextual bandit)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Literature Survey</a:t>
            </a:r>
            <a:r>
              <a:rPr sz="2400" b="1">
                <a:solidFill>
                  <a:srgbClr val="C18736"/>
                </a:solidFill>
                <a:latin typeface="Poppins"/>
              </a:rPr>
              <a:t> Background Study: Existing Systems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85800" y="2228846"/>
            <a:ext cx="5257800" cy="16916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22960" y="2301998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Algorithmic error detection &amp; repair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960" y="2640326"/>
            <a:ext cx="4983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B16803"/>
                </a:solidFill>
                <a:latin typeface="Calibri"/>
              </a:rPr>
              <a:t>Raha/Baran, HoloClean, SAGED [8], AutoCure [5]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2960" y="2942078"/>
            <a:ext cx="49834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Detect and repair cell errors using ensembles, meta-learning or probabilistic inference. Optimise repair accuracy, not downstream model quality; Ni et al. [7] find many repairs add errors.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126480" y="2228846"/>
            <a:ext cx="5257800" cy="169164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263640" y="2301998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Cleaning-for-ML benchmarks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63640" y="2640326"/>
            <a:ext cx="4983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B16803"/>
                </a:solidFill>
                <a:latin typeface="Calibri"/>
              </a:rPr>
              <a:t>CleanML [1], REIN [4], SLR [6]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63640" y="2942078"/>
            <a:ext cx="49834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dirty="0">
                <a:solidFill>
                  <a:srgbClr val="2C232E"/>
                </a:solidFill>
                <a:latin typeface="Calibri"/>
              </a:rPr>
              <a:t>Measure how cleaning affects downstream models offline. Key finding: impact depends on error type and model — often insignificant or negative. Studies, not autonomous systems.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85800" y="4057646"/>
            <a:ext cx="5257800" cy="169164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4130798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AutoML &amp; RL cleaning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2960" y="4469126"/>
            <a:ext cx="4983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B16803"/>
                </a:solidFill>
                <a:latin typeface="Calibri"/>
              </a:rPr>
              <a:t>AutoML + cleaning [2], ReClean [9]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22960" y="4770878"/>
            <a:ext cx="49834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Treat cleaning as a search/decision problem scored by validation performance. ReClean trains an RL agent to pick repairs; no statistical accept/reject gate.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126480" y="4057646"/>
            <a:ext cx="5257800" cy="16916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263640" y="4130798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LLM data wranglers &amp; agents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63640" y="4469126"/>
            <a:ext cx="4983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B16803"/>
                </a:solidFill>
                <a:latin typeface="Calibri"/>
              </a:rPr>
              <a:t>FMs [3], Jellyfish [10], TR-Agent [12], DeepPrep [14]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63640" y="4770878"/>
            <a:ext cx="49834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LLMs perform error detection/imputation or plan pipelines. TR-Agent adds downstream feedback and reports; DeepPrep [14] uses tree search + RL and scores against a target table.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5800" y="586815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6E6667"/>
                </a:solidFill>
                <a:latin typeface="Calibri"/>
              </a:rPr>
              <a:t>Numbers in [ ] refer to the surveyed papers on the next slides; [14] DeepPrep is the course reference paper (PVLDB vol. 19, 2026; arXiv:2602.07371).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Literature Survey</a:t>
            </a:r>
            <a:r>
              <a:rPr sz="2400" b="1">
                <a:solidFill>
                  <a:srgbClr val="C18736"/>
                </a:solidFill>
                <a:latin typeface="Poppins"/>
              </a:rPr>
              <a:t> Summary of Surveyed Papers (1/3)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19" name="Table 118"/>
          <p:cNvGraphicFramePr>
            <a:graphicFrameLocks noGrp="1"/>
          </p:cNvGraphicFramePr>
          <p:nvPr/>
        </p:nvGraphicFramePr>
        <p:xfrm>
          <a:off x="548640" y="1783080"/>
          <a:ext cx="11064240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Publication &amp; year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CleanML: A Study for Evaluating the Impact of Data Cleaning on ML Classification Tasks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P. Li, X. Rao, J. Blase, Y. Zhang, X. Chu, C. Zhang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IEEE ICDE 2021, pp. 13–24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Benchmark of 13 real datasets, 5 error types and 7 ML models. Shows the effect of cleaning on accuracy is often insignificant and sometimes negative; depends on error type and model.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Data Cleaning and AutoML: Would an Optimizer Choose to Clean?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F. Neutatz, B. Chen, Y. Alkhatib, J. Ye, Z. Abedjan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Datenbank-Spektrum, 22(2), pp. 121–130, 2022 (Springer)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Treats cleaning as an AutoML hyperparameter. Finds specific cleaning routines matter, but can often be avoided through model or feature choices.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Can Foundation Models Wrangle Your Data?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A. Narayan, I. Chami, L. Orr, C. Ré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PVLDB, 16(4), pp. 738–746, 2022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GPT-3 with few demonstrations reaches state-of-the-art results on error detection, imputation and entity matching — LLMs as general data-cleaning reasoners.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REIN: A Comprehensive Benchmark Framework for Data Cleaning Methods in ML Pipelines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M. Abdelaal, C. Hammacher, H. Schöning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Proc. EDBT 2023, pp. 499–511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Benchmarks many error-detection and repair methods inside ML pipelines across datasets and models; cleaning benefit varies widely by error type and model.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Literature Survey</a:t>
            </a:r>
            <a:r>
              <a:rPr sz="2400" b="1">
                <a:solidFill>
                  <a:srgbClr val="C18736"/>
                </a:solidFill>
                <a:latin typeface="Poppins"/>
              </a:rPr>
              <a:t> Summary of Surveyed Papers (2/3)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19" name="Table 118"/>
          <p:cNvGraphicFramePr>
            <a:graphicFrameLocks noGrp="1"/>
          </p:cNvGraphicFramePr>
          <p:nvPr/>
        </p:nvGraphicFramePr>
        <p:xfrm>
          <a:off x="548640" y="1783080"/>
          <a:ext cx="11064240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Publication &amp; year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AutoCure: Automated Tabular Data Curation Technique for ML Pipelines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M. Abdelaal, R. R. Koparde, H. Schöning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Proc. aiDM@SIGMOD 2023, pp. 1:1–1:11 (ACM)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Configuration-free curation: ensemble error detection, then augments the clean portion of the data instead of repairing dirty cells.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Data Cleaning and Machine Learning: A Systematic Literature Review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P.-O. Côté, A. Nikanjam, N. Ahmed, D. Humeniuk, F. Khomh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Automated Software Engineering, 31(2), Art. 54, 2024 (Springer)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Systematic review of data cleaning for ML: catalogues cleaning activities (feature, label, outlier, missing-value), their effect on models, and open challenges.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Automatic Data Repair: Are We Ready to Deploy?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W. Ni, X. Miao, X. Zhao, Y. Wu, S. Liang, J. Yin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PVLDB, 17(10), pp. 2617–2630, 2024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Evaluates 12 repair algorithms on 12 datasets; many repairs introduce more errors than they fix. With proper selection guided by error detection, repair can help downstream tasks.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SAGED: Few-Shot Meta Learning for Tabular Data Error Detection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M. Abdelaal, T. Ktitarev, D. Städtler, H. Schöning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Proc. EDBT 2024, pp. 386–398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Meta-learns error detectors from historical datasets so a new dataset needs only a few labelled examples.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Literature Survey</a:t>
            </a:r>
            <a:r>
              <a:rPr sz="2400" b="1">
                <a:solidFill>
                  <a:srgbClr val="C18736"/>
                </a:solidFill>
                <a:latin typeface="Poppins"/>
              </a:rPr>
              <a:t> Summary of Surveyed Papers (3/3)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19" name="Table 118"/>
          <p:cNvGraphicFramePr>
            <a:graphicFrameLocks noGrp="1"/>
          </p:cNvGraphicFramePr>
          <p:nvPr/>
        </p:nvGraphicFramePr>
        <p:xfrm>
          <a:off x="548640" y="1783080"/>
          <a:ext cx="11064240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Publication &amp; year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ReClean: Reinforcement Learning for Automated Data Cleaning in ML Pipelines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M. Abdelaal, A. B. Yayak, K. Klede, H. Schöning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IEEE ICDE Workshops (ICDEW) 2024, pp. 324–330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Frames cleaning as sequential decisions: an RL agent picks repair operations rewarded by downstream model performance. Closest prior work to AETERNA-QA.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Jellyfish: Instruction-Tuning Local Large Language Models for Data Preprocessing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H. Zhang, Y. Dong, C. Xiao, M. Oyamada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Proc. EMNLP 2024, pp. 8754–8782 (ACL)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Instruction-tunes 7B–13B open models for preprocessing tasks (error detection, imputation, matching); competitive with GPT-3.5/4 on a single GPU.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Data-centric Artificial Intelligence: A Survey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D. Zha, Z. P. Bhat, K.-H. Lai, F. Yang, Z. Jiang, S. Zhong, X. Hu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ACM Computing Surveys, 57(5), pp. 1–42, 2025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Surveys training-data development (incl. cleaning), inference data and data maintenance; frames automation vs. human collaboration.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A Task-Driven Interpretable Data Cleaning Framework Based on LLM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S. Fan, J. Liu, Z. Luo, S. Zhou, Y. Song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ArtInHCI 2025, FAIA (IOS Press), pp. 96–102, 2026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C232E"/>
                          </a:solidFill>
                          <a:latin typeface="Calibri"/>
                        </a:rPr>
                        <a:t>TR-Agent: LLM agent for error identification, correction and report generation, refined by downstream-task feedback; reports higher F1 than HoloClean on Titanic.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Literature Survey</a:t>
            </a:r>
            <a:r>
              <a:rPr sz="2400" b="1">
                <a:solidFill>
                  <a:srgbClr val="C18736"/>
                </a:solidFill>
                <a:latin typeface="Poppins"/>
              </a:rPr>
              <a:t> Comparative Study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19" name="Table 118"/>
          <p:cNvGraphicFramePr>
            <a:graphicFrameLocks noGrp="1"/>
          </p:cNvGraphicFramePr>
          <p:nvPr/>
        </p:nvGraphicFramePr>
        <p:xfrm>
          <a:off x="548640" y="1783080"/>
          <a:ext cx="11064236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12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6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4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6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0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Chooses repairs autonomously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Verifies on downstream model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Statistical accept/reject gate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Rollback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Audit / explanation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Model training needed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Raha/Baran, HoloClean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Partly (algorithmic)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Few labels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CleanML [1] / REIN [4]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No (offline study)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Offline tests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AutoML + cleaning [2]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Yes (search)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Implicit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No (search cost)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ReClean [9]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Yes (RL agent)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RL training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LLM wranglers [3], [10]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Per cell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[10]: fine-tuning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TR-Agent [12]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Yes (LLM)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Yes (feedback)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Not reported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Not reported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Yes (reports)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DeepPrep [14]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Yes (LLM + tree)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No (target table)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03A2E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Backtracking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Reasoning trace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232E"/>
                          </a:solidFill>
                          <a:latin typeface="Calibri"/>
                        </a:rPr>
                        <a:t>SFT + RL (GPUs)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2545"/>
                          </a:solidFill>
                          <a:latin typeface="Calibri"/>
                        </a:rPr>
                        <a:t>AETERNA-QA (ours)</a:t>
                      </a:r>
                    </a:p>
                  </a:txBody>
                  <a:tcPr marL="54864" marR="54864" marT="27432" marB="27432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C232E"/>
                          </a:solidFill>
                          <a:latin typeface="Calibri"/>
                        </a:rPr>
                        <a:t>Yes (LLM, fixed menu)</a:t>
                      </a:r>
                    </a:p>
                  </a:txBody>
                  <a:tcPr marL="54864" marR="54864" marT="27432" marB="27432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C232E"/>
                          </a:solidFill>
                          <a:latin typeface="Calibri"/>
                        </a:rPr>
                        <a:t>Yes (RF; LR planned)</a:t>
                      </a:r>
                    </a:p>
                  </a:txBody>
                  <a:tcPr marL="54864" marR="54864" marT="27432" marB="27432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C232E"/>
                          </a:solidFill>
                          <a:latin typeface="Calibri"/>
                        </a:rPr>
                        <a:t>Yes (corrected t-test, Bonferroni)</a:t>
                      </a:r>
                    </a:p>
                  </a:txBody>
                  <a:tcPr marL="54864" marR="54864" marT="27432" marB="27432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C232E"/>
                          </a:solidFill>
                          <a:latin typeface="Calibri"/>
                        </a:rPr>
                        <a:t>Yes (JSON log; Explain in progress)</a:t>
                      </a:r>
                    </a:p>
                  </a:txBody>
                  <a:tcPr marL="54864" marR="54864" marT="27432" marB="27432" anchor="ctr"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C232E"/>
                          </a:solidFill>
                          <a:latin typeface="Calibri"/>
                        </a:rPr>
                        <a:t>No (free-tier API)</a:t>
                      </a:r>
                    </a:p>
                  </a:txBody>
                  <a:tcPr marL="54864" marR="54864" marT="27432" marB="27432" anchor="ctr">
                    <a:solidFill>
                      <a:srgbClr val="FB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0" name="TextBox 119"/>
          <p:cNvSpPr txBox="1"/>
          <p:nvPr/>
        </p:nvSpPr>
        <p:spPr>
          <a:xfrm>
            <a:off x="548640" y="5468112"/>
            <a:ext cx="11064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E6667"/>
                </a:solidFill>
                <a:latin typeface="Calibri"/>
              </a:rPr>
              <a:t>Differentiator: the closed agent loop with a leak-free, multiple-comparison-corrected gate — not downstream verification by itself (CleanML/REIN already measure that).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Tools &amp; Technologies</a:t>
            </a:r>
            <a:r>
              <a:rPr sz="2400" b="1">
                <a:solidFill>
                  <a:srgbClr val="C18736"/>
                </a:solidFill>
                <a:latin typeface="Poppins"/>
              </a:rPr>
              <a:t> Technology Stack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19" name="Table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191401"/>
              </p:ext>
            </p:extLst>
          </p:nvPr>
        </p:nvGraphicFramePr>
        <p:xfrm>
          <a:off x="701041" y="2254840"/>
          <a:ext cx="10789918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8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Tool / technology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Python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Core implementation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Data handling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pandas, NumPy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Loading, profiling, fold-wise transforms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ML / evaluation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C232E"/>
                          </a:solidFill>
                          <a:latin typeface="Calibri"/>
                        </a:rPr>
                        <a:t>RandomForest</a:t>
                      </a:r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2C232E"/>
                          </a:solidFill>
                          <a:latin typeface="Calibri"/>
                        </a:rPr>
                        <a:t>RepeatedStratifiedKFold</a:t>
                      </a:r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, F1; LogisticRegression planned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Statistics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SciPy (stats)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t-distribution critical values for the commit threshold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LLM planner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C232E"/>
                          </a:solidFill>
                          <a:latin typeface="Calibri"/>
                        </a:rPr>
                        <a:t>Groq</a:t>
                      </a:r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 API — </a:t>
                      </a:r>
                      <a:r>
                        <a:rPr sz="1100" b="0" dirty="0" err="1">
                          <a:solidFill>
                            <a:srgbClr val="2C232E"/>
                          </a:solidFill>
                          <a:latin typeface="Calibri"/>
                        </a:rPr>
                        <a:t>openai</a:t>
                      </a:r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/gpt-oss-20b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Free tier; strict JSON-schema output over valid (column, operation) pairs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python-</a:t>
                      </a:r>
                      <a:r>
                        <a:rPr sz="1100" b="0" dirty="0" err="1">
                          <a:solidFill>
                            <a:srgbClr val="2C232E"/>
                          </a:solidFill>
                          <a:latin typeface="Calibri"/>
                        </a:rPr>
                        <a:t>dotenv</a:t>
                      </a:r>
                      <a:endParaRPr sz="1100" b="0" dirty="0">
                        <a:solidFill>
                          <a:srgbClr val="2C232E"/>
                        </a:solidFill>
                        <a:latin typeface="Calibri"/>
                      </a:endParaRP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API key in local .env, never in code or logs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Audit trail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One log per run: proposals, ΔF1, SE, threshold,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Visualisation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Matplotlib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Control-experiment charts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UCI Adult (Census Income)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32,561 rows; real ‘?’ missingness in 3 columns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VS Code, Claude Code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AI-assisted development and review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Functional Requirements</a:t>
            </a:r>
            <a:r>
              <a:rPr sz="2400" b="1">
                <a:solidFill>
                  <a:srgbClr val="C18736"/>
                </a:solidFill>
                <a:latin typeface="Poppins"/>
              </a:rPr>
              <a:t> Users &amp; Requirements (1/2)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72416" y="2327992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Users of the system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72416" y="278519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200" b="1">
                <a:solidFill>
                  <a:srgbClr val="B16803"/>
                </a:solidFill>
                <a:latin typeface="Calibri"/>
              </a:rPr>
              <a:t>Data scientist / ML engineer</a:t>
            </a:r>
          </a:p>
          <a:p>
            <a:pPr algn="l"/>
            <a:r>
              <a:rPr sz="1050">
                <a:solidFill>
                  <a:srgbClr val="2C232E"/>
                </a:solidFill>
                <a:latin typeface="Calibri"/>
              </a:rPr>
              <a:t>Runs the agent on a dataset, reviews commits and the audit log.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72416" y="383675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200" b="1">
                <a:solidFill>
                  <a:srgbClr val="B16803"/>
                </a:solidFill>
                <a:latin typeface="Calibri"/>
              </a:rPr>
              <a:t>Data steward / reviewer</a:t>
            </a:r>
          </a:p>
          <a:p>
            <a:pPr algn="l"/>
            <a:r>
              <a:rPr sz="1050">
                <a:solidFill>
                  <a:srgbClr val="2C232E"/>
                </a:solidFill>
                <a:latin typeface="Calibri"/>
              </a:rPr>
              <a:t>Audits why each change was accepted or rejected.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72416" y="488831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200" b="1">
                <a:solidFill>
                  <a:srgbClr val="B16803"/>
                </a:solidFill>
                <a:latin typeface="Calibri"/>
              </a:rPr>
              <a:t>Researcher / evaluator</a:t>
            </a:r>
          </a:p>
          <a:p>
            <a:pPr algn="l"/>
            <a:r>
              <a:rPr sz="1050">
                <a:solidFill>
                  <a:srgbClr val="2C232E"/>
                </a:solidFill>
                <a:latin typeface="Calibri"/>
              </a:rPr>
              <a:t>Runs ground-truth and control experiments to validate the agent.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462756"/>
              </p:ext>
            </p:extLst>
          </p:nvPr>
        </p:nvGraphicFramePr>
        <p:xfrm>
          <a:off x="4238576" y="2327992"/>
          <a:ext cx="7269479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89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8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FR1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Load dataset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Load a CSV, detect the target column and positive class, keep original row IDs for fold tracking.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FR2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Profile data quality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Compute per-column dtype, null %, cardinality and outlier counts; produce a structured profile for the planner.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FR3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Plan a repair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LLM planner proposes one (column, operation) pair with a reason, restricted to dtype-valid, untried menu options (JSON schema).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545"/>
                          </a:solidFill>
                          <a:latin typeface="Calibri"/>
                        </a:rPr>
                        <a:t>FR4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232E"/>
                          </a:solidFill>
                          <a:latin typeface="Calibri"/>
                        </a:rPr>
                        <a:t>Execute safely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232E"/>
                          </a:solidFill>
                          <a:latin typeface="Calibri"/>
                        </a:rPr>
                        <a:t>Apply the operation from a fixed, dictionary-mapped menu — no exec() of generated code. Statistics fitted on training rows only.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Functional Requirements</a:t>
            </a:r>
            <a:r>
              <a:rPr sz="2400" b="1">
                <a:solidFill>
                  <a:srgbClr val="C18736"/>
                </a:solidFill>
                <a:latin typeface="Poppins"/>
              </a:rPr>
              <a:t> Requirements (2/2)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19" name="Table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176970"/>
              </p:ext>
            </p:extLst>
          </p:nvPr>
        </p:nvGraphicFramePr>
        <p:xfrm>
          <a:off x="701040" y="2366006"/>
          <a:ext cx="10789919" cy="3639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34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5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9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2545"/>
                          </a:solidFill>
                          <a:latin typeface="Calibri"/>
                        </a:rPr>
                        <a:t>FR5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32E"/>
                          </a:solidFill>
                          <a:latin typeface="Calibri"/>
                        </a:rPr>
                        <a:t>Verify on downstream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32E"/>
                          </a:solidFill>
                          <a:latin typeface="Calibri"/>
                        </a:rPr>
                        <a:t>Retrain the classifier on fixed CV folds (5 × 3) with committed + candidate ops replayed from raw data; compute paired ΔF1.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2545"/>
                          </a:solidFill>
                          <a:latin typeface="Calibri"/>
                        </a:rPr>
                        <a:t>FR6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32E"/>
                          </a:solidFill>
                          <a:latin typeface="Calibri"/>
                        </a:rPr>
                        <a:t>Commit or roll back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32E"/>
                          </a:solidFill>
                          <a:latin typeface="Calibri"/>
                        </a:rPr>
                        <a:t>Commit only if ΔF1 &gt; corrected threshold (Nadeau–Bengio SE × Bonferroni t-critical); otherwise discard and inform the planner.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2545"/>
                          </a:solidFill>
                          <a:latin typeface="Calibri"/>
                        </a:rPr>
                        <a:t>FR7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32E"/>
                          </a:solidFill>
                          <a:latin typeface="Calibri"/>
                        </a:rPr>
                        <a:t>Audit logging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32E"/>
                          </a:solidFill>
                          <a:latin typeface="Calibri"/>
                        </a:rPr>
                        <a:t>Write every iteration (proposal, reason, F1 before/after, SE, threshold, status) to a JSON run log.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2545"/>
                          </a:solidFill>
                          <a:latin typeface="Calibri"/>
                        </a:rPr>
                        <a:t>FR8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32E"/>
                          </a:solidFill>
                          <a:latin typeface="Calibri"/>
                        </a:rPr>
                        <a:t>Explain decisions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32E"/>
                          </a:solidFill>
                          <a:latin typeface="Calibri"/>
                        </a:rPr>
                        <a:t>Generate a plain-English rationale per iteration from the audit log (in progress).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2545"/>
                          </a:solidFill>
                          <a:latin typeface="Calibri"/>
                        </a:rPr>
                        <a:t>FR9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32E"/>
                          </a:solidFill>
                          <a:latin typeface="Calibri"/>
                        </a:rPr>
                        <a:t>Ground-truth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2C232E"/>
                          </a:solidFill>
                          <a:latin typeface="Calibri"/>
                        </a:rPr>
                        <a:t>Exhaustive search over all operation combinations to validate that the agent’s decision matches the best achievable outcome.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Non-Functional Requirements</a:t>
            </a:r>
            <a:r>
              <a:rPr sz="2400" b="1">
                <a:solidFill>
                  <a:srgbClr val="C18736"/>
                </a:solidFill>
                <a:latin typeface="Poppins"/>
              </a:rPr>
              <a:t> Project-Specific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72416" y="2291416"/>
            <a:ext cx="5257800" cy="8046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09576" y="2337135"/>
            <a:ext cx="173736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Statistical validity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46936" y="2337135"/>
            <a:ext cx="329184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No commit without clearing a corrected, multiple-comparison-adjusted threshold; family-wise false-commit rate ≤ ~5% per run.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113096" y="2291416"/>
            <a:ext cx="5257800" cy="804672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250256" y="2337135"/>
            <a:ext cx="173736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No data leakage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987616" y="2337135"/>
            <a:ext cx="329184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Test rows always come from raw data; fill statistics fitted on training folds only; fold membership fixed once per run.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72416" y="3205816"/>
            <a:ext cx="5257800" cy="804672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09576" y="3251536"/>
            <a:ext cx="173736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Reproducibility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46936" y="3251536"/>
            <a:ext cx="329184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Fixed random seeds (model, folds, corruption); identical inputs give identical decisions and logs.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13096" y="3205816"/>
            <a:ext cx="5257800" cy="8046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250256" y="3251536"/>
            <a:ext cx="173736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Safety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987616" y="3251536"/>
            <a:ext cx="329184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LLM output constrained to a JSON schema over a fixed operation menu; no generated code is executed.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72416" y="4120216"/>
            <a:ext cx="5257800" cy="8046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09576" y="4165936"/>
            <a:ext cx="173736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Auditability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546936" y="4165936"/>
            <a:ext cx="329184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100% of iterations — including errors and rejections — recorded in the audit log.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113096" y="4120216"/>
            <a:ext cx="5257800" cy="804672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250256" y="4165936"/>
            <a:ext cx="173736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Privacy &amp; security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87616" y="4165936"/>
            <a:ext cx="329184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API key stored in local .env; only the column profile (not raw rows) is sent to the LLM.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72416" y="5034616"/>
            <a:ext cx="5257800" cy="804672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09576" y="5080336"/>
            <a:ext cx="173736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Performance &amp; cost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46936" y="5080336"/>
            <a:ext cx="329184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Full 12-iteration run completes in ~2–3 min on a laptop CPU; free-tier LLM, no GPU required.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113096" y="5034616"/>
            <a:ext cx="5257800" cy="8046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250256" y="5080336"/>
            <a:ext cx="173736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Maintainability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987616" y="5080336"/>
            <a:ext cx="329184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Modular design (profiler, planner, executor, evaluator, pipeline, audit); every change logged in the changelog.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Design</a:t>
            </a:r>
            <a:r>
              <a:rPr sz="2400" b="1">
                <a:solidFill>
                  <a:srgbClr val="C18736"/>
                </a:solidFill>
                <a:latin typeface="Poppins"/>
              </a:rPr>
              <a:t> Architecture Diagram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40080" y="214884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50" b="1">
                <a:solidFill>
                  <a:srgbClr val="0B2545"/>
                </a:solidFill>
                <a:latin typeface="Calibri"/>
              </a:rPr>
              <a:t>Dataset</a:t>
            </a:r>
          </a:p>
          <a:p>
            <a:pPr algn="ctr"/>
            <a:r>
              <a:rPr sz="950">
                <a:solidFill>
                  <a:srgbClr val="2C232E"/>
                </a:solidFill>
                <a:latin typeface="Calibri"/>
              </a:rPr>
              <a:t>adult.csv
(raw, row IDs)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331720" y="214884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50" b="1">
                <a:solidFill>
                  <a:srgbClr val="0B2545"/>
                </a:solidFill>
                <a:latin typeface="Calibri"/>
              </a:rPr>
              <a:t>Profiler</a:t>
            </a:r>
          </a:p>
          <a:p>
            <a:pPr algn="ctr"/>
            <a:r>
              <a:rPr sz="950">
                <a:solidFill>
                  <a:srgbClr val="2C232E"/>
                </a:solidFill>
                <a:latin typeface="Calibri"/>
              </a:rPr>
              <a:t>null %, dtype,
cardinality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023360" y="214884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50" b="1">
                <a:solidFill>
                  <a:srgbClr val="0B2545"/>
                </a:solidFill>
                <a:latin typeface="Calibri"/>
              </a:rPr>
              <a:t>Planner (LLM)</a:t>
            </a:r>
          </a:p>
          <a:p>
            <a:pPr algn="ctr"/>
            <a:r>
              <a:rPr sz="950">
                <a:solidFill>
                  <a:srgbClr val="2C232E"/>
                </a:solidFill>
                <a:latin typeface="Calibri"/>
              </a:rPr>
              <a:t>Groq gpt-oss-20b
JSON schema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715000" y="214884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50" b="1">
                <a:solidFill>
                  <a:srgbClr val="0B2545"/>
                </a:solidFill>
                <a:latin typeface="Calibri"/>
              </a:rPr>
              <a:t>Executor</a:t>
            </a:r>
          </a:p>
          <a:p>
            <a:pPr algn="ctr"/>
            <a:r>
              <a:rPr sz="950">
                <a:solidFill>
                  <a:srgbClr val="2C232E"/>
                </a:solidFill>
                <a:latin typeface="Calibri"/>
              </a:rPr>
              <a:t>fixed op menu
fit on train folds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406640" y="214884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50" b="1">
                <a:solidFill>
                  <a:srgbClr val="0B2545"/>
                </a:solidFill>
                <a:latin typeface="Calibri"/>
              </a:rPr>
              <a:t>Evaluator</a:t>
            </a:r>
          </a:p>
          <a:p>
            <a:pPr algn="ctr"/>
            <a:r>
              <a:rPr sz="950">
                <a:solidFill>
                  <a:srgbClr val="2C232E"/>
                </a:solidFill>
                <a:latin typeface="Calibri"/>
              </a:rPr>
              <a:t>fixed 5×3 folds
RF (LR planned)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098280" y="214884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50" b="1">
                <a:solidFill>
                  <a:srgbClr val="0B2545"/>
                </a:solidFill>
                <a:latin typeface="Calibri"/>
              </a:rPr>
              <a:t>Decision gate</a:t>
            </a:r>
          </a:p>
          <a:p>
            <a:pPr algn="ctr"/>
            <a:r>
              <a:rPr sz="950">
                <a:solidFill>
                  <a:srgbClr val="2C232E"/>
                </a:solidFill>
                <a:latin typeface="Calibri"/>
              </a:rPr>
              <a:t>ΔF1 &gt; corrected
threshold?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2121408" y="2628900"/>
            <a:ext cx="192024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813048" y="2628900"/>
            <a:ext cx="192024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504688" y="2628900"/>
            <a:ext cx="192024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7196327" y="2628900"/>
            <a:ext cx="192025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887967" y="2628900"/>
            <a:ext cx="192025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8412480" y="365760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2E7D4F"/>
                </a:solidFill>
                <a:latin typeface="Calibri"/>
              </a:rPr>
              <a:t>Commit</a:t>
            </a:r>
          </a:p>
          <a:p>
            <a:pPr algn="ctr"/>
            <a:r>
              <a:rPr sz="900">
                <a:solidFill>
                  <a:srgbClr val="2C232E"/>
                </a:solidFill>
                <a:latin typeface="Calibri"/>
              </a:rPr>
              <a:t>add to committed_ops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966960" y="365760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B03A2E"/>
                </a:solidFill>
                <a:latin typeface="Calibri"/>
              </a:rPr>
              <a:t>Roll back</a:t>
            </a:r>
          </a:p>
          <a:p>
            <a:pPr algn="ctr"/>
            <a:r>
              <a:rPr sz="900">
                <a:solidFill>
                  <a:srgbClr val="2C232E"/>
                </a:solidFill>
                <a:latin typeface="Calibri"/>
              </a:rPr>
              <a:t>discard; tell planner</a:t>
            </a:r>
          </a:p>
        </p:txBody>
      </p:sp>
      <p:cxnSp>
        <p:nvCxnSpPr>
          <p:cNvPr id="132" name="Connector 131"/>
          <p:cNvCxnSpPr/>
          <p:nvPr/>
        </p:nvCxnSpPr>
        <p:spPr>
          <a:xfrm flipH="1">
            <a:off x="9098280" y="3108960"/>
            <a:ext cx="457200" cy="548640"/>
          </a:xfrm>
          <a:prstGeom prst="line">
            <a:avLst/>
          </a:prstGeom>
          <a:ln w="22225">
            <a:solidFill>
              <a:srgbClr val="2E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104120" y="3108960"/>
            <a:ext cx="548640" cy="548640"/>
          </a:xfrm>
          <a:prstGeom prst="line">
            <a:avLst/>
          </a:prstGeom>
          <a:ln w="22225">
            <a:solidFill>
              <a:srgbClr val="B03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4023360" y="3657600"/>
            <a:ext cx="3154680" cy="6858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Calibri"/>
              </a:rPr>
              <a:t>Run state: committed_ops</a:t>
            </a:r>
          </a:p>
          <a:p>
            <a:pPr algn="ctr"/>
            <a:r>
              <a:rPr sz="950">
                <a:solidFill>
                  <a:srgbClr val="2C232E"/>
                </a:solidFill>
                <a:latin typeface="Calibri"/>
              </a:rPr>
              <a:t>replayed from raw data for every evaluation</a:t>
            </a:r>
          </a:p>
        </p:txBody>
      </p:sp>
      <p:cxnSp>
        <p:nvCxnSpPr>
          <p:cNvPr id="135" name="Connector 134"/>
          <p:cNvCxnSpPr/>
          <p:nvPr/>
        </p:nvCxnSpPr>
        <p:spPr>
          <a:xfrm flipH="1">
            <a:off x="7196328" y="4000500"/>
            <a:ext cx="1216152" cy="0"/>
          </a:xfrm>
          <a:prstGeom prst="line">
            <a:avLst/>
          </a:prstGeom>
          <a:ln w="22225">
            <a:solidFill>
              <a:srgbClr val="2E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 flipV="1">
            <a:off x="3063240" y="3127248"/>
            <a:ext cx="960120" cy="873252"/>
          </a:xfrm>
          <a:prstGeom prst="line">
            <a:avLst/>
          </a:prstGeom>
          <a:ln w="22225">
            <a:solidFill>
              <a:srgbClr val="0B254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2057400" y="361188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6E6667"/>
                </a:solidFill>
                <a:latin typeface="Calibri"/>
              </a:rPr>
              <a:t>next iteration
(max 12)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40080" y="4709160"/>
            <a:ext cx="6537960" cy="64008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B16803"/>
                </a:solidFill>
                <a:latin typeface="Calibri"/>
              </a:rPr>
              <a:t>Audit log (JSON)</a:t>
            </a:r>
          </a:p>
          <a:p>
            <a:pPr algn="ctr"/>
            <a:r>
              <a:rPr sz="950">
                <a:solidFill>
                  <a:srgbClr val="2C232E"/>
                </a:solidFill>
                <a:latin typeface="Calibri"/>
              </a:rPr>
              <a:t>every proposal, reason, F1 before/after, SE, threshold, status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589520" y="4709160"/>
            <a:ext cx="374903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1873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dirty="0">
                <a:solidFill>
                  <a:srgbClr val="B16803"/>
                </a:solidFill>
                <a:latin typeface="Calibri"/>
              </a:rPr>
              <a:t>Explain module </a:t>
            </a:r>
            <a:endParaRPr lang="en-US" sz="1200" b="1" dirty="0">
              <a:solidFill>
                <a:srgbClr val="B16803"/>
              </a:solidFill>
              <a:latin typeface="Calibri"/>
            </a:endParaRPr>
          </a:p>
          <a:p>
            <a:pPr algn="ctr"/>
            <a:r>
              <a:rPr sz="950" dirty="0">
                <a:solidFill>
                  <a:srgbClr val="2C232E"/>
                </a:solidFill>
                <a:latin typeface="Calibri"/>
              </a:rPr>
              <a:t>LLM turns the audit log into plain English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7196328" y="5029200"/>
            <a:ext cx="374903" cy="0"/>
          </a:xfrm>
          <a:prstGeom prst="line">
            <a:avLst/>
          </a:prstGeom>
          <a:ln w="22225">
            <a:solidFill>
              <a:srgbClr val="C1873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754880" y="4343400"/>
            <a:ext cx="0" cy="347472"/>
          </a:xfrm>
          <a:prstGeom prst="line">
            <a:avLst/>
          </a:prstGeom>
          <a:ln w="12700">
            <a:solidFill>
              <a:srgbClr val="6E666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640080" y="178308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E6667"/>
                </a:solidFill>
                <a:latin typeface="Calibri"/>
              </a:rPr>
              <a:t>Components and data flow of one agent run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Design</a:t>
            </a:r>
            <a:r>
              <a:rPr sz="2400" b="1">
                <a:solidFill>
                  <a:srgbClr val="C18736"/>
                </a:solidFill>
                <a:latin typeface="Poppins"/>
              </a:rPr>
              <a:t> Process Flow &amp; Design Methodology (ML)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Pentagon 118"/>
          <p:cNvSpPr/>
          <p:nvPr/>
        </p:nvSpPr>
        <p:spPr>
          <a:xfrm>
            <a:off x="672416" y="2356862"/>
            <a:ext cx="1783080" cy="685800"/>
          </a:xfrm>
          <a:prstGeom prst="homePlat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  Profile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3856" y="3106670"/>
            <a:ext cx="1645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column stats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null % per column</a:t>
            </a:r>
          </a:p>
        </p:txBody>
      </p:sp>
      <p:sp>
        <p:nvSpPr>
          <p:cNvPr id="121" name="Chevron 120"/>
          <p:cNvSpPr/>
          <p:nvPr/>
        </p:nvSpPr>
        <p:spPr>
          <a:xfrm>
            <a:off x="2482928" y="2356862"/>
            <a:ext cx="1783080" cy="685800"/>
          </a:xfrm>
          <a:prstGeom prst="chevron">
            <a:avLst/>
          </a:prstGeom>
          <a:solidFill>
            <a:srgbClr val="B168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  Plan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574368" y="3106670"/>
            <a:ext cx="1645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LLM picks one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untried op</a:t>
            </a:r>
          </a:p>
        </p:txBody>
      </p:sp>
      <p:sp>
        <p:nvSpPr>
          <p:cNvPr id="123" name="Chevron 122"/>
          <p:cNvSpPr/>
          <p:nvPr/>
        </p:nvSpPr>
        <p:spPr>
          <a:xfrm>
            <a:off x="4293440" y="2356862"/>
            <a:ext cx="1783080" cy="685800"/>
          </a:xfrm>
          <a:prstGeom prst="chevron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  Execute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384880" y="3106670"/>
            <a:ext cx="1645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fit stats on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train rows only</a:t>
            </a:r>
          </a:p>
        </p:txBody>
      </p:sp>
      <p:sp>
        <p:nvSpPr>
          <p:cNvPr id="125" name="Chevron 124"/>
          <p:cNvSpPr/>
          <p:nvPr/>
        </p:nvSpPr>
        <p:spPr>
          <a:xfrm>
            <a:off x="6103952" y="2356862"/>
            <a:ext cx="1783080" cy="685800"/>
          </a:xfrm>
          <a:prstGeom prst="chevron">
            <a:avLst/>
          </a:prstGeom>
          <a:solidFill>
            <a:srgbClr val="B168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  Verify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95391" y="3106670"/>
            <a:ext cx="1645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RF on 15 fixed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fold pairs</a:t>
            </a:r>
          </a:p>
        </p:txBody>
      </p:sp>
      <p:sp>
        <p:nvSpPr>
          <p:cNvPr id="127" name="Chevron 126"/>
          <p:cNvSpPr/>
          <p:nvPr/>
        </p:nvSpPr>
        <p:spPr>
          <a:xfrm>
            <a:off x="7914464" y="2356862"/>
            <a:ext cx="1783080" cy="685800"/>
          </a:xfrm>
          <a:prstGeom prst="chevron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  Decide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05904" y="3106670"/>
            <a:ext cx="1645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paired ΔF1 vs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corrected bar</a:t>
            </a:r>
          </a:p>
        </p:txBody>
      </p:sp>
      <p:sp>
        <p:nvSpPr>
          <p:cNvPr id="129" name="Chevron 128"/>
          <p:cNvSpPr/>
          <p:nvPr/>
        </p:nvSpPr>
        <p:spPr>
          <a:xfrm>
            <a:off x="9724976" y="2356862"/>
            <a:ext cx="1783080" cy="685800"/>
          </a:xfrm>
          <a:prstGeom prst="chevron">
            <a:avLst/>
          </a:prstGeom>
          <a:solidFill>
            <a:srgbClr val="B168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  Log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816416" y="3106670"/>
            <a:ext cx="1645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commit / roll back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C232E"/>
                </a:solidFill>
                <a:latin typeface="Calibri"/>
              </a:rPr>
              <a:t>→ audit JSON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2416" y="3682742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6E6667"/>
                </a:solidFill>
                <a:latin typeface="Calibri"/>
              </a:rPr>
              <a:t>Loop repeats until the planner runs out of valid options or MAX_ITERATIONS = 12.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72416" y="4048502"/>
            <a:ext cx="6309360" cy="19659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55296" y="4112510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Evaluation methodology (leak-free)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55296" y="4459982"/>
            <a:ext cx="598932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01168" indent="-164592" algn="l">
              <a:spcAft>
                <a:spcPts val="3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Folds fixed once from raw data by row ID (5-fold × 3 repeats); reused for every comparison.</a:t>
            </a:r>
          </a:p>
          <a:p>
            <a:pPr marL="201168" indent="-164592" algn="l">
              <a:spcAft>
                <a:spcPts val="3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Training rows get committed + candidate ops; test rows always stay raw.</a:t>
            </a:r>
          </a:p>
          <a:p>
            <a:pPr marL="201168" indent="-164592" algn="l">
              <a:spcAft>
                <a:spcPts val="3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Paired per-fold ΔF1 on the same folds; Nadeau–Bengio corrected SE (overlapping training sets).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Threshold = t-critical (df = 14, one-sided α = 0.05/12, Bonferroni) × SE.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210376" y="4048502"/>
            <a:ext cx="4251960" cy="196596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393256" y="4112510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16803"/>
                </a:solidFill>
                <a:latin typeface="Calibri"/>
              </a:rPr>
              <a:t>Why this design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93256" y="4459982"/>
            <a:ext cx="3977639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01168" indent="-164592" algn="l">
              <a:spcAft>
                <a:spcPts val="3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Three leakage bugs found and fixed across five evaluator revisions.</a:t>
            </a:r>
          </a:p>
          <a:p>
            <a:pPr marL="201168" indent="-164592" algn="l">
              <a:spcAft>
                <a:spcPts val="3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Two earlier ‘commits’ proved to be measurement artifacts and were retracted.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The current gate agrees with the 64-combination ground truth.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Design</a:t>
            </a:r>
            <a:r>
              <a:rPr sz="2400" b="1">
                <a:solidFill>
                  <a:srgbClr val="C18736"/>
                </a:solidFill>
                <a:latin typeface="Poppins"/>
              </a:rPr>
              <a:t> Database Design: Document Structure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72416" y="2328527"/>
            <a:ext cx="47548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 dirty="0">
                <a:solidFill>
                  <a:srgbClr val="2C232E"/>
                </a:solidFill>
                <a:latin typeface="Calibri"/>
              </a:rPr>
              <a:t>AETERNA-QA has no relational database, so there is no ER diagram or MySQL schema. Persistent data is a JSON document per run (unstructured store), plus the input CSV.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72416" y="3334367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Entities in the run document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72416" y="3745847"/>
            <a:ext cx="4754880" cy="62179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200" b="1">
                <a:solidFill>
                  <a:srgbClr val="0B2545"/>
                </a:solidFill>
                <a:latin typeface="Calibri"/>
              </a:rPr>
              <a:t>Run</a:t>
            </a:r>
          </a:p>
          <a:p>
            <a:pPr algn="l"/>
            <a:r>
              <a:rPr sz="1000">
                <a:solidFill>
                  <a:srgbClr val="2C232E"/>
                </a:solidFill>
                <a:latin typeface="Calibri"/>
              </a:rPr>
              <a:t>started_at, finished_at, baseline_f1, final_f1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72416" y="4477366"/>
            <a:ext cx="4754880" cy="621792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200" b="1">
                <a:solidFill>
                  <a:srgbClr val="0B2545"/>
                </a:solidFill>
                <a:latin typeface="Calibri"/>
              </a:rPr>
              <a:t>Iteration (1..12)</a:t>
            </a:r>
          </a:p>
          <a:p>
            <a:pPr algn="l"/>
            <a:r>
              <a:rPr sz="1000">
                <a:solidFill>
                  <a:srgbClr val="2C232E"/>
                </a:solidFill>
                <a:latin typeface="Calibri"/>
              </a:rPr>
              <a:t>one proposal and its verdict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72416" y="5208887"/>
            <a:ext cx="4754880" cy="62179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200" b="1">
                <a:solidFill>
                  <a:srgbClr val="0B2545"/>
                </a:solidFill>
                <a:latin typeface="Calibri"/>
              </a:rPr>
              <a:t>Chain (chain_id)</a:t>
            </a:r>
          </a:p>
          <a:p>
            <a:pPr algn="l"/>
            <a:r>
              <a:rPr sz="1000">
                <a:solidFill>
                  <a:srgbClr val="2C232E"/>
                </a:solidFill>
                <a:latin typeface="Calibri"/>
              </a:rPr>
              <a:t>iterations evaluated together; resolved to committed or discarded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747336" y="2328527"/>
            <a:ext cx="5760720" cy="361188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930216" y="2419967"/>
            <a:ext cx="5486400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"started_at": "2026-09-29T06:25:59Z",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"baseline_f1": 0.6716,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"final_f1": 0.6716,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"iterations": [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{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  "iteration": 4,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  "column": "occupation",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  "operation": "fill_mode",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  "reason": "Impute missing values ...",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  "f1_before": 0.6716, "f1_after": 0.6750,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  "delta": 0.0034, "se": 0.0020,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  "threshold": 0.0060,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  "accepted": false, "error": null,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  "status": "discarded", "chain_id": 0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  }, ...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],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  "finished_at": "2026-09-29T06:28:18Z"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747336" y="5967839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6E6667"/>
                </a:solidFill>
                <a:latin typeface="Calibri"/>
              </a:rPr>
              <a:t>Excerpt from a real run log: logs/run_20260929T062818Z.json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Implementation</a:t>
            </a:r>
            <a:r>
              <a:rPr sz="2400" b="1">
                <a:solidFill>
                  <a:srgbClr val="C18736"/>
                </a:solidFill>
                <a:latin typeface="Poppins"/>
              </a:rPr>
              <a:t> Status of Modules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19" name="Table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493146"/>
              </p:ext>
            </p:extLst>
          </p:nvPr>
        </p:nvGraphicFramePr>
        <p:xfrm>
          <a:off x="791632" y="2222654"/>
          <a:ext cx="7498080" cy="3675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config.py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Op menu, folds, seeds, threshold settings, .env key loading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profiler.py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Per-column dtype, null %, IQR outlier count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planner.py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Groq LLM, strict JSON schema over valid untried pairs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executor.py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Dict-mapped ops, fit on train / apply to test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evaluator.py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Fixed folds, replay from raw, corrected SE, Bonferroni t-threshold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Done (5th revision)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pipeline.py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Detect → plan → execute → verify → commit / roll back loop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audit.py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JSON run log with chains and statuses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exhaustive_search.py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Ground truth over all 64 combinations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Positive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Synthetic reversible noise injection (DeepPrep §5.3)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16803"/>
                          </a:solidFill>
                          <a:latin typeface="Calibri"/>
                        </a:rPr>
                        <a:t>In progress (v1 failed)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Logistic Regression evaluator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Declared second model + leak tests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6E6667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54864" marR="54864" marT="27432" marB="2743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Calibri"/>
                        </a:rPr>
                        <a:t>explain.py + demo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C232E"/>
                          </a:solidFill>
                          <a:latin typeface="Calibri"/>
                        </a:rPr>
                        <a:t>Plain-English rationale; formatted 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1" dirty="0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0" name="Rounded Rectangle 119"/>
          <p:cNvSpPr/>
          <p:nvPr/>
        </p:nvSpPr>
        <p:spPr>
          <a:xfrm>
            <a:off x="8564032" y="2222654"/>
            <a:ext cx="3063240" cy="365760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701192" y="2314093"/>
            <a:ext cx="2834640" cy="61555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3400" b="1" dirty="0">
                <a:solidFill>
                  <a:srgbClr val="B16803"/>
                </a:solidFill>
              </a:rPr>
              <a:t>9</a:t>
            </a:r>
            <a:r>
              <a:rPr sz="3400" b="1" i="0" dirty="0">
                <a:solidFill>
                  <a:srgbClr val="B16803"/>
                </a:solidFill>
                <a:latin typeface="Calibri"/>
              </a:rPr>
              <a:t> of 11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01192" y="3045614"/>
            <a:ext cx="2834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components working end-to-end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701192" y="3685694"/>
            <a:ext cx="2834640" cy="2148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 i="1">
                <a:solidFill>
                  <a:srgbClr val="6E6667"/>
                </a:solidFill>
                <a:latin typeface="Calibri"/>
              </a:rPr>
              <a:t>Estimate by component count, not effort.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~1,450 lines of Python across 10 modules.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Full agent loop runs live with the Groq LLM; no login or UI padding.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Implementation</a:t>
            </a:r>
            <a:r>
              <a:rPr sz="2400" b="1">
                <a:solidFill>
                  <a:srgbClr val="C18736"/>
                </a:solidFill>
                <a:latin typeface="Poppins"/>
              </a:rPr>
              <a:t> Results on Real Data (UCI Adult)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19" name="Chart 118"/>
          <p:cNvGraphicFramePr>
            <a:graphicFrameLocks noGrp="1"/>
          </p:cNvGraphicFramePr>
          <p:nvPr/>
        </p:nvGraphicFramePr>
        <p:xfrm>
          <a:off x="548640" y="1783080"/>
          <a:ext cx="72237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0" name="TextBox 119"/>
          <p:cNvSpPr txBox="1"/>
          <p:nvPr/>
        </p:nvSpPr>
        <p:spPr>
          <a:xfrm>
            <a:off x="548640" y="5230368"/>
            <a:ext cx="7223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6E6667"/>
                </a:solidFill>
                <a:latin typeface="Calibri"/>
              </a:rPr>
              <a:t>nc = native.country, wc = workclass, occ = occupation; unk = fill_unknown. Iteration 10 was an LLM output error (logged, skipped).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046720" y="1783080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183879" y="1828800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Calibri"/>
              </a:rPr>
              <a:t>0.6716 → 0.6716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183879" y="2286000"/>
            <a:ext cx="3246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baseline F1 → final F1
(5×3 fixed-fold CV)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046720" y="2953512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183879" y="2999232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B16803"/>
                </a:solidFill>
                <a:latin typeface="Calibri"/>
              </a:rPr>
              <a:t>0 commits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183879" y="3456432"/>
            <a:ext cx="3246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correct: no operation
reliably helps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046720" y="4123944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183879" y="4169663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Calibri"/>
              </a:rPr>
              <a:t>0 / 64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183879" y="4626864"/>
            <a:ext cx="3246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C232E"/>
                </a:solidFill>
                <a:latin typeface="Calibri"/>
              </a:rPr>
              <a:t>exhaustive ground truth agrees;
do-nothing ranks 34th of 64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Implementation</a:t>
            </a:r>
            <a:r>
              <a:rPr sz="2400" b="1">
                <a:solidFill>
                  <a:srgbClr val="C18736"/>
                </a:solidFill>
                <a:latin typeface="Poppins"/>
              </a:rPr>
              <a:t> Positive Control &amp; Next Steps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9" name="Picture 118" descr="positive_contro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120640" cy="320040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548640" y="507492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E6667"/>
                </a:solidFill>
                <a:latin typeface="Calibri"/>
              </a:rPr>
              <a:t>Control v1 (real output): random NaNs in education.num at 10% — best repair +0.0013 vs threshold 0.0207. No commit.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943600" y="182880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080760" y="1874519"/>
            <a:ext cx="53035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16803"/>
                </a:solidFill>
                <a:latin typeface="Calibri"/>
              </a:rPr>
              <a:t>Why v1 failed (kept as a negative control)</a:t>
            </a:r>
          </a:p>
          <a:p>
            <a:pPr marL="201168" indent="-164592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Random blanking destroys information — no fill can recover it.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education duplicates education.num, so the model never lost the signal.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943600" y="338328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080760" y="3429000"/>
            <a:ext cx="53035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Next (to demonstrate commit + rollback)</a:t>
            </a:r>
          </a:p>
          <a:p>
            <a:pPr marL="201168" indent="-164592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Reversible noise injection (DeepPrep §5.3): fragment a strong categorical feature into many rare spelling variants; normalize_categories must restore it exactly.</a:t>
            </a:r>
          </a:p>
          <a:p>
            <a:pPr marL="201168" indent="-164592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Selection rule written before screening; all scenarios reported.</a:t>
            </a:r>
          </a:p>
          <a:p>
            <a:pPr marL="201168" indent="-164592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Logistic Regression as a declared second evaluator.</a:t>
            </a:r>
          </a:p>
          <a:p>
            <a:pPr marL="201168" indent="-164592" algn="l">
              <a:spcAft>
                <a:spcPts val="400"/>
              </a:spcAft>
              <a:buChar char="•"/>
            </a:pPr>
            <a:r>
              <a:rPr sz="1100" b="0" i="0">
                <a:solidFill>
                  <a:srgbClr val="2C232E"/>
                </a:solidFill>
                <a:latin typeface="Calibri"/>
              </a:rPr>
              <a:t>Explain module and formatted demo report; planner–critic if time allows.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References</a:t>
            </a:r>
            <a:r>
              <a:rPr sz="2400" b="1">
                <a:solidFill>
                  <a:srgbClr val="C18736"/>
                </a:solidFill>
                <a:latin typeface="Poppins"/>
              </a:rPr>
              <a:t> IEEE Format (1/2)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85800" y="1783080"/>
            <a:ext cx="10835640" cy="3703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Books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[B1] I. F. Ilyas and X. Chu, Data Cleaning. New York, NY, USA: ACM Books, 2019.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[B2] A. Géron, Hands-On Machine Learning with Scikit-Learn, Keras, and TensorFlow, 3rd ed. Sebastopol, CA, USA: O’Reilly Media, 2022.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Research papers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[1] P. Li, X. Rao, J. Blase, Y. Zhang, X. Chu, and C. Zhang, “CleanML: A study for evaluating the impact of data cleaning on ML classification tasks,” in Proc. IEEE 37th Int. Conf. Data Eng. (ICDE), 2021, pp. 13–24.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[2] F. Neutatz, B. Chen, Y. Alkhatib, J. Ye, and Z. Abedjan, “Data cleaning and AutoML: Would an optimizer choose to clean?,” Datenbank-Spektrum, vol. 22, no. 2, pp. 121–130, 2022, doi: 10.1007/s13222-022-00413-2.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[3] A. Narayan, I. Chami, L. Orr, and C. Ré, “Can foundation models wrangle your data?,” Proc. VLDB Endow., vol. 16, no. 4, pp. 738–746, 2022, doi: 10.14778/3574245.3574258.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[4] M. Abdelaal, C. Hammacher, and H. Schöning, “REIN: A comprehensive benchmark framework for data cleaning methods in ML pipelines,” in Proc. 26th Int. Conf. Extending Database Technol. (EDBT), 2023, pp. 499–511.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[5] M. Abdelaal, R. R. Koparde, and H. Schöning, “AutoCure: Automated tabular data curation technique for ML pipelines,” in Proc. aiDM Workshop @ ACM SIGMOD, 2023, pp. 1:1–1:11.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[6] P.-O. Côté, A. Nikanjam, N. Ahmed, D. Humeniuk, and F. Khomh, “Data cleaning and machine learning: A systematic literature review,” Automated Softw. Eng., vol. 31, no. 2, Art. no. 54, 2024, doi: 10.1007/s10515-024-00453-w.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[7] W. Ni, X. Miao, X. Zhao, Y. Wu, S. Liang, and J. Yin, “Automatic data repair: Are we ready to deploy?,” Proc. VLDB Endow., vol. 17, no. 10, pp. 2617–2630, 2024, doi: 10.14778/3675034.3675051.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2400" b="1">
                <a:solidFill>
                  <a:srgbClr val="0B2545"/>
                </a:solidFill>
                <a:latin typeface="Poppins"/>
              </a:rPr>
              <a:t>References</a:t>
            </a:r>
            <a:r>
              <a:rPr sz="2400" b="1">
                <a:solidFill>
                  <a:srgbClr val="C18736"/>
                </a:solidFill>
                <a:latin typeface="Poppins"/>
              </a:rPr>
              <a:t> IEEE Format (2/2)</a:t>
            </a:r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85800" y="1783080"/>
            <a:ext cx="10835640" cy="3703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Research papers (cont.)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[8] M. Abdelaal, T. Ktitarev, D. Städtler, and H. Schöning, “SAGED: Few-shot meta learning for tabular data error detection,” in Proc. 27th Int. Conf. Extending Database Technol. (EDBT), 2024, pp. 386–398.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[9] M. Abdelaal, A. B. Yayak, K. Klede, and H. Schöning, “ReClean: Reinforcement learning for automated data cleaning in ML pipelines,” in Proc. IEEE 40th Int. Conf. Data Eng. Workshops (ICDEW), 2024, pp. 324–330.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[10] H. Zhang, Y. Dong, C. Xiao, and M. Oyamada, “Jellyfish: Instruction-tuning local large language models for data preprocessing,” in Proc. Conf. Empirical Methods Natural Lang. Process. (EMNLP), 2024, pp. 8754–8782, doi: 10.18653/v1/2024.emnlp-main.497.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[11] D. Zha, Z. P. Bhat, K.-H. Lai, F. Yang, Z. Jiang, S. Zhong, and X. Hu, “Data-centric artificial intelligence: A survey,” ACM Comput. Surv., vol. 57, no. 5, pp. 1–42, 2025, doi: 10.1145/3711118.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[12] S. Fan, J. Liu, Z. Luo, S. Zhou, and Y. Song, “A task-driven interpretable data cleaning framework based on LLM,” in Artificial Intelligence and Human-Computer Interaction (ArtInHCI 2025), Frontiers Artif. Intell. Appl., IOS Press, 2026, pp. 96–102, doi: 10.3233/FAIA251753.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[13] C. Nadeau and Y. Bengio, “Inference for the generalization error,” Mach. Learn., vol. 52, no. 3, pp. 239–281, 2003.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[14] M. Fan, J. Fan, Y. Zhang, S. Zhang, X. Du, J. Song, P. Li, F. Jiang, T. Zhang, and J. Chen, “DeepPrep: An LLM-powered agentic system for autonomous data preparation,” Proc. VLDB Endow., vol. 19, no. 1, 2026 (to appear), arXiv:2602.07371.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Websites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[W1] B. Becker and R. Kohavi, “Adult,” UCI Machine Learning Repository, 1996. [Online]. Available: https://doi.org/10.24432/C5XW20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[W2] Groq, “GroqCloud API documentation.” [Online]. Available: https://console.groq.com/docs (accessed Sep. 2026).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C232E"/>
                </a:solidFill>
                <a:latin typeface="Calibri"/>
              </a:rPr>
              <a:t>[W3] scikit-learn developers, “scikit-learn: Machine learning in Python — User guide.” [Online]. Available: https://scikit-learn.org/stable/ (accessed Sep. 2026).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Footer Placeholder 18"/>
          <p:cNvSpPr txBox="1"/>
          <p:nvPr/>
        </p:nvSpPr>
        <p:spPr>
          <a:xfrm>
            <a:off x="4084319" y="6261615"/>
            <a:ext cx="4023362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sp>
        <p:nvSpPr>
          <p:cNvPr id="161" name="Straight Connector 13"/>
          <p:cNvSpPr/>
          <p:nvPr/>
        </p:nvSpPr>
        <p:spPr>
          <a:xfrm flipV="1">
            <a:off x="4287946" y="3020911"/>
            <a:ext cx="4581450" cy="2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66" name="Group 22"/>
          <p:cNvGrpSpPr/>
          <p:nvPr/>
        </p:nvGrpSpPr>
        <p:grpSpPr>
          <a:xfrm>
            <a:off x="313843" y="349465"/>
            <a:ext cx="11518409" cy="6218390"/>
            <a:chOff x="0" y="0"/>
            <a:chExt cx="11518407" cy="6218388"/>
          </a:xfrm>
        </p:grpSpPr>
        <p:sp>
          <p:nvSpPr>
            <p:cNvPr id="162" name="Rectangle 23"/>
            <p:cNvSpPr/>
            <p:nvPr/>
          </p:nvSpPr>
          <p:spPr>
            <a:xfrm>
              <a:off x="11472688" y="11259"/>
              <a:ext cx="45720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3" name="Rectangle 24"/>
            <p:cNvSpPr/>
            <p:nvPr/>
          </p:nvSpPr>
          <p:spPr>
            <a:xfrm rot="5400000">
              <a:off x="10962100" y="-510589"/>
              <a:ext cx="45720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4" name="Rectangle 25"/>
            <p:cNvSpPr/>
            <p:nvPr/>
          </p:nvSpPr>
          <p:spPr>
            <a:xfrm rot="5400000">
              <a:off x="510587" y="5662080"/>
              <a:ext cx="45720" cy="1066897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5" name="Rectangle 26"/>
            <p:cNvSpPr/>
            <p:nvPr/>
          </p:nvSpPr>
          <p:spPr>
            <a:xfrm rot="10800000">
              <a:off x="-1" y="5140232"/>
              <a:ext cx="45720" cy="1066897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67" name="Rectangle 18"/>
          <p:cNvSpPr txBox="1"/>
          <p:nvPr/>
        </p:nvSpPr>
        <p:spPr>
          <a:xfrm>
            <a:off x="4317762" y="2387192"/>
            <a:ext cx="7405773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 b="1">
                <a:solidFill>
                  <a:srgbClr val="C55A11"/>
                </a:solidFill>
              </a:defRPr>
            </a:lvl1pPr>
          </a:lstStyle>
          <a:p>
            <a:r>
              <a:rPr dirty="0"/>
              <a:t>THANK YOU</a:t>
            </a:r>
          </a:p>
        </p:txBody>
      </p:sp>
      <p:pic>
        <p:nvPicPr>
          <p:cNvPr id="16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360" y="1702366"/>
            <a:ext cx="2306319" cy="3548492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0972800" y="6414760"/>
            <a:ext cx="502920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4682</Words>
  <Application>Microsoft Office PowerPoint</Application>
  <PresentationFormat>Widescreen</PresentationFormat>
  <Paragraphs>517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Consolas</vt:lpstr>
      <vt:lpstr>Courier New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Akira</dc:creator>
  <cp:lastModifiedBy>Akira Shi</cp:lastModifiedBy>
  <cp:revision>4</cp:revision>
  <dcterms:modified xsi:type="dcterms:W3CDTF">2026-09-30T04:29:34Z</dcterms:modified>
</cp:coreProperties>
</file>