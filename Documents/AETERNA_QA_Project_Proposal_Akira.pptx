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8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596C9-8F54-45FF-BCCA-83D2426B1EDE}" v="6" dt="2026-08-18T05:28:28.38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sp>
        <p:nvSpPr>
          <p:cNvPr id="95" name="Straight Connector 13"/>
          <p:cNvSpPr/>
          <p:nvPr/>
        </p:nvSpPr>
        <p:spPr>
          <a:xfrm>
            <a:off x="592903" y="1958426"/>
            <a:ext cx="5855208" cy="1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00" name="Group 22"/>
          <p:cNvGrpSpPr/>
          <p:nvPr/>
        </p:nvGrpSpPr>
        <p:grpSpPr>
          <a:xfrm>
            <a:off x="313843" y="349465"/>
            <a:ext cx="11518409" cy="6218390"/>
            <a:chOff x="0" y="0"/>
            <a:chExt cx="11518407" cy="6218388"/>
          </a:xfrm>
        </p:grpSpPr>
        <p:sp>
          <p:nvSpPr>
            <p:cNvPr id="96" name="Rectangle 23"/>
            <p:cNvSpPr/>
            <p:nvPr/>
          </p:nvSpPr>
          <p:spPr>
            <a:xfrm>
              <a:off x="11472688" y="1125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7" name="Rectangle 24"/>
            <p:cNvSpPr/>
            <p:nvPr/>
          </p:nvSpPr>
          <p:spPr>
            <a:xfrm rot="5400000">
              <a:off x="10962100" y="-51058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8" name="Rectangle 25"/>
            <p:cNvSpPr/>
            <p:nvPr/>
          </p:nvSpPr>
          <p:spPr>
            <a:xfrm rot="5400000">
              <a:off x="510587" y="5662080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9" name="Rectangle 26"/>
            <p:cNvSpPr/>
            <p:nvPr/>
          </p:nvSpPr>
          <p:spPr>
            <a:xfrm rot="10800000">
              <a:off x="-1" y="5140232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01" name="Rectangle 18"/>
          <p:cNvSpPr txBox="1"/>
          <p:nvPr/>
        </p:nvSpPr>
        <p:spPr>
          <a:xfrm>
            <a:off x="170790" y="1256368"/>
            <a:ext cx="6699434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3600" b="1">
                <a:solidFill>
                  <a:srgbClr val="FF0000"/>
                </a:solidFill>
              </a:defRPr>
            </a:lvl1pPr>
          </a:lstStyle>
          <a:p>
            <a:r>
              <a:t>AETERNA-QA</a:t>
            </a:r>
          </a:p>
        </p:txBody>
      </p:sp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3698" y="799681"/>
            <a:ext cx="1498748" cy="2460608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Rectangle 3"/>
          <p:cNvSpPr txBox="1"/>
          <p:nvPr/>
        </p:nvSpPr>
        <p:spPr>
          <a:xfrm>
            <a:off x="838199" y="5093800"/>
            <a:ext cx="4159433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/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Raghav Vasudevan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2000"/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SRN No: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PES1PG25CA1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2000"/>
            </a:pP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</a:t>
            </a:r>
          </a:p>
        </p:txBody>
      </p:sp>
      <p:sp>
        <p:nvSpPr>
          <p:cNvPr id="104" name="Rectangle 5"/>
          <p:cNvSpPr txBox="1"/>
          <p:nvPr/>
        </p:nvSpPr>
        <p:spPr>
          <a:xfrm>
            <a:off x="5866566" y="5141064"/>
            <a:ext cx="5487235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Guide : Dr.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Menaka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2000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>
              <a:defRPr sz="2000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Applications</a:t>
            </a:r>
          </a:p>
        </p:txBody>
      </p:sp>
      <p:sp>
        <p:nvSpPr>
          <p:cNvPr id="105" name="TextBox 9"/>
          <p:cNvSpPr txBox="1"/>
          <p:nvPr/>
        </p:nvSpPr>
        <p:spPr>
          <a:xfrm>
            <a:off x="326997" y="2095247"/>
            <a:ext cx="6387020" cy="59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6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200" dirty="0">
                <a:latin typeface="Consolas" panose="020B0609020204030204" pitchFamily="49" charset="0"/>
              </a:rPr>
              <a:t>Autonomous Entity-Driven Verification &amp; Reasoning</a:t>
            </a:r>
            <a:br>
              <a:rPr sz="1200" dirty="0">
                <a:latin typeface="Consolas" panose="020B0609020204030204" pitchFamily="49" charset="0"/>
              </a:rPr>
            </a:br>
            <a:r>
              <a:rPr sz="1200" dirty="0">
                <a:latin typeface="Consolas" panose="020B0609020204030204" pitchFamily="49" charset="0"/>
              </a:rPr>
              <a:t>for Data Quality Assessment</a:t>
            </a:r>
          </a:p>
        </p:txBody>
      </p:sp>
      <p:sp>
        <p:nvSpPr>
          <p:cNvPr id="106" name="Slide Number Placeholder 11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34216"/>
            <a:ext cx="181383" cy="248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88B4A-F7A2-904D-0BC6-C13721C27415}"/>
              </a:ext>
            </a:extLst>
          </p:cNvPr>
          <p:cNvSpPr txBox="1"/>
          <p:nvPr/>
        </p:nvSpPr>
        <p:spPr>
          <a:xfrm>
            <a:off x="648515" y="2848486"/>
            <a:ext cx="6094674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</a:rPr>
              <a:t>Capstone Project Proposal &amp; Implementation Roadmap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oter Placeholder 18"/>
          <p:cNvSpPr txBox="1"/>
          <p:nvPr/>
        </p:nvSpPr>
        <p:spPr>
          <a:xfrm>
            <a:off x="4084319" y="6242159"/>
            <a:ext cx="402336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1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208" y="528032"/>
            <a:ext cx="849666" cy="142853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3"/>
          <p:cNvSpPr txBox="1"/>
          <p:nvPr/>
        </p:nvSpPr>
        <p:spPr>
          <a:xfrm>
            <a:off x="791632" y="1051797"/>
            <a:ext cx="859826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dirty="0"/>
              <a:t>Abstract Project Overview &amp; Objectives</a:t>
            </a:r>
          </a:p>
        </p:txBody>
      </p:sp>
      <p:sp>
        <p:nvSpPr>
          <p:cNvPr id="116" name="TextBox 13"/>
          <p:cNvSpPr txBox="1"/>
          <p:nvPr/>
        </p:nvSpPr>
        <p:spPr>
          <a:xfrm>
            <a:off x="1233486" y="3535248"/>
            <a:ext cx="6706564" cy="219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1900"/>
              </a:lnSpc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defRPr>
            </a:pPr>
            <a:endParaRPr dirty="0"/>
          </a:p>
        </p:txBody>
      </p:sp>
      <p:sp>
        <p:nvSpPr>
          <p:cNvPr id="118" name="Slide Number Placeholder 20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3908164-41FC-B548-8D28-3E185441E475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4E11FC37-9898-7953-66B5-2FAF19CD4ECD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58FD9EE3-5A78-DAFD-8493-2EB474B3BADF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FC77F650-0480-A231-1CE9-B0FF7C88EB9E}"/>
              </a:ext>
            </a:extLst>
          </p:cNvPr>
          <p:cNvSpPr/>
          <p:nvPr/>
        </p:nvSpPr>
        <p:spPr>
          <a:xfrm flipV="1">
            <a:off x="672416" y="1562849"/>
            <a:ext cx="8201239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69AFB-D9FF-81C8-D5D5-D496F3A558B8}"/>
              </a:ext>
            </a:extLst>
          </p:cNvPr>
          <p:cNvSpPr txBox="1"/>
          <p:nvPr/>
        </p:nvSpPr>
        <p:spPr>
          <a:xfrm>
            <a:off x="672416" y="1980961"/>
            <a:ext cx="7875236" cy="3145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Overview:</a:t>
            </a:r>
            <a:endParaRPr lang="en-IN" sz="1400" b="0" dirty="0">
              <a:solidFill>
                <a:srgbClr val="C18736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AETERNA-QA is an autonomous agent-based system for data quality assessment and cleaning. It combines LLM-powered planning, iterative verification loops, and downstream model feedback to autonomously detect, diagnose, and repair data quality issues while proving the effectiveness of each cleaning operation.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Primary Objectives:</a:t>
            </a:r>
            <a:endParaRPr lang="en-IN" sz="1400" b="0" dirty="0">
              <a:solidFill>
                <a:srgbClr val="C18736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1.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Reduce manual data cleaning by 80%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2.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Achieve verification-driven cleaning with 80%± improvement confidence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3.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Provide audit trails for compliance and interpretability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4.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Support multi-table schema-aware data governance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Key Metric</a:t>
            </a:r>
            <a:r>
              <a:rPr lang="en-IN" sz="1400" b="0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:</a:t>
            </a:r>
            <a:r>
              <a:rPr lang="en-IN" sz="1200" b="0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If a cleaning operation doesn't improve downstream model F1 by ≥1%, it's rejected and rolled back.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grpSp>
        <p:nvGrpSpPr>
          <p:cNvPr id="123" name="Group 19"/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121" name="Rectangle 23"/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2" name="Rectangle 24"/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24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451" y="407538"/>
            <a:ext cx="849666" cy="1428533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Box 4"/>
          <p:cNvSpPr txBox="1"/>
          <p:nvPr/>
        </p:nvSpPr>
        <p:spPr>
          <a:xfrm>
            <a:off x="847289" y="951061"/>
            <a:ext cx="1160145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dirty="0"/>
              <a:t>Problem Scenario Motivation &amp; Need For Solution</a:t>
            </a:r>
          </a:p>
        </p:txBody>
      </p:sp>
      <p:sp>
        <p:nvSpPr>
          <p:cNvPr id="128" name="Slide Number Placeholder 1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3" name="Straight Connector 13">
            <a:extLst>
              <a:ext uri="{FF2B5EF4-FFF2-40B4-BE49-F238E27FC236}">
                <a16:creationId xmlns:a16="http://schemas.microsoft.com/office/drawing/2014/main" id="{9504D282-04CB-A503-E6C9-06EE3701E1FB}"/>
              </a:ext>
            </a:extLst>
          </p:cNvPr>
          <p:cNvSpPr/>
          <p:nvPr/>
        </p:nvSpPr>
        <p:spPr>
          <a:xfrm flipV="1">
            <a:off x="720124" y="1364375"/>
            <a:ext cx="8789636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EDE96-D495-E494-44FC-CF2FF2D1A353}"/>
              </a:ext>
            </a:extLst>
          </p:cNvPr>
          <p:cNvSpPr txBox="1"/>
          <p:nvPr/>
        </p:nvSpPr>
        <p:spPr>
          <a:xfrm>
            <a:off x="720123" y="1779427"/>
            <a:ext cx="7859333" cy="38679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Current Bottleneck / Existing System:</a:t>
            </a:r>
            <a:endParaRPr lang="en-IN" sz="1400" b="0" dirty="0">
              <a:solidFill>
                <a:srgbClr val="C18736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Data scientists spend </a:t>
            </a:r>
            <a:r>
              <a:rPr lang="en-IN" sz="1400" b="1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60-80% of time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on data preparation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Static rule engines break when data distributions shift (drift)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No feedback loop to validate if cleaning improves downstream models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Enterprise data lakes lack autonomous quality governance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Cleaning decisions are opaque and non-auditable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Why This Matters:</a:t>
            </a:r>
            <a:endParaRPr lang="en-IN" sz="1400" b="0" dirty="0">
              <a:solidFill>
                <a:srgbClr val="C18736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Manual cleaning = scalability bottleneck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Rule-based systems are rigid and inflexible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No verification means wasted effort on ineffective cleaning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Regulatory requirements (GDPR, HIPAA) demand audit trails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C18736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Proposed Motivation:</a:t>
            </a:r>
            <a:endParaRPr lang="en-IN" sz="1400" b="0" dirty="0">
              <a:solidFill>
                <a:srgbClr val="C18736"/>
              </a:solidFill>
              <a:effectLst/>
              <a:latin typeface="Consolas" panose="020B0609020204030204" pitchFamily="49" charset="0"/>
              <a:cs typeface="Poppins" panose="00000500000000000000" pitchFamily="2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1.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LLM-based autonomous diagnosis replaces static rules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2.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Downstream model performance delta as reward signal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3.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Iterative detect-verify-repair with automatic rollback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4.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Causal hypothesis generation for interpretability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5.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  <a:cs typeface="Poppins" panose="00000500000000000000" pitchFamily="2" charset="0"/>
              </a:rPr>
              <a:t> Schema graphs enable multi-table data governance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grpSp>
        <p:nvGrpSpPr>
          <p:cNvPr id="133" name="Group 19"/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131" name="Rectangle 23"/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2" name="Rectangle 24"/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34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451" y="407538"/>
            <a:ext cx="849666" cy="1428533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Box 4"/>
          <p:cNvSpPr txBox="1"/>
          <p:nvPr/>
        </p:nvSpPr>
        <p:spPr>
          <a:xfrm>
            <a:off x="847291" y="931303"/>
            <a:ext cx="902478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dirty="0"/>
              <a:t>Core System Functionalities </a:t>
            </a:r>
            <a:r>
              <a:rPr b="0" dirty="0">
                <a:solidFill>
                  <a:srgbClr val="D938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Features &amp; Modules</a:t>
            </a:r>
          </a:p>
        </p:txBody>
      </p:sp>
      <p:sp>
        <p:nvSpPr>
          <p:cNvPr id="3" name="Straight Connector 13">
            <a:extLst>
              <a:ext uri="{FF2B5EF4-FFF2-40B4-BE49-F238E27FC236}">
                <a16:creationId xmlns:a16="http://schemas.microsoft.com/office/drawing/2014/main" id="{482AA777-F8FB-A94C-A32E-0CB3C123E982}"/>
              </a:ext>
            </a:extLst>
          </p:cNvPr>
          <p:cNvSpPr/>
          <p:nvPr/>
        </p:nvSpPr>
        <p:spPr>
          <a:xfrm flipV="1">
            <a:off x="720124" y="1364375"/>
            <a:ext cx="8789636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B6BA9F-204E-C326-DFFE-E413E0BB896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B28CC-B3FB-1992-4547-40776F245DB9}"/>
              </a:ext>
            </a:extLst>
          </p:cNvPr>
          <p:cNvSpPr txBox="1"/>
          <p:nvPr/>
        </p:nvSpPr>
        <p:spPr>
          <a:xfrm>
            <a:off x="720124" y="1724379"/>
            <a:ext cx="4685837" cy="42229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187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dirty="0">
                <a:solidFill>
                  <a:srgbClr val="C18736"/>
                </a:solidFill>
                <a:effectLst/>
                <a:latin typeface="Consolas" panose="020B0609020204030204" pitchFamily="49" charset="0"/>
              </a:rPr>
              <a:t>1. Data Profiling Engine</a:t>
            </a:r>
            <a:endParaRPr lang="en-IN" sz="1400" b="0" dirty="0">
              <a:solidFill>
                <a:srgbClr val="C1873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Statistical profiling (nulls, outliers, distributions)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Anomaly detection via ML (</a:t>
            </a:r>
            <a:r>
              <a:rPr lang="en-IN" sz="1400" b="0" dirty="0" err="1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PyOD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, Isolation Forest)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Temporal drift monitoring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2. LLM Planner Module</a:t>
            </a: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Chain-of-thought diagnosis of data issues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Ranked strategy generation with confidence scores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Multi-hypothesis exploration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3. Autonomous Execution</a:t>
            </a: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Tool-use API (Pandas, imputation, standardization)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Great Expectations constraint validation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Semantic string cleaning via regex &amp; fuzzy matching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F79FA-8A1D-13FE-8477-E8E839467644}"/>
              </a:ext>
            </a:extLst>
          </p:cNvPr>
          <p:cNvSpPr txBox="1"/>
          <p:nvPr/>
        </p:nvSpPr>
        <p:spPr>
          <a:xfrm>
            <a:off x="5544047" y="2490281"/>
            <a:ext cx="4685837" cy="20685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4. Verification Loop</a:t>
            </a:r>
            <a:r>
              <a:rPr lang="en-IN" sz="1400" b="0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 (Novel Contribution)</a:t>
            </a: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Lightweight model trainer (</a:t>
            </a:r>
            <a:r>
              <a:rPr lang="en-IN" sz="1400" b="0" dirty="0" err="1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RandomForest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Performance delta measurement (ΔF1, ΔAUC)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Automatic rollback on negative delta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1" dirty="0">
                <a:solidFill>
                  <a:srgbClr val="B16803"/>
                </a:solidFill>
                <a:effectLst/>
                <a:latin typeface="Consolas" panose="020B0609020204030204" pitchFamily="49" charset="0"/>
              </a:rPr>
              <a:t>5. Audit &amp; Explainability</a:t>
            </a:r>
            <a:endParaRPr lang="en-IN" sz="1400" b="0" dirty="0">
              <a:solidFill>
                <a:srgbClr val="2C232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Provenance tracking for every operation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Causal hypothesis templates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92898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2C232E"/>
                </a:solidFill>
                <a:effectLst/>
                <a:latin typeface="Consolas" panose="020B0609020204030204" pitchFamily="49" charset="0"/>
              </a:rPr>
              <a:t> Natural language explanations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rPr dirty="0"/>
              <a:t>Department of Computer Applications</a:t>
            </a:r>
          </a:p>
        </p:txBody>
      </p:sp>
      <p:grpSp>
        <p:nvGrpSpPr>
          <p:cNvPr id="141" name="Group 19"/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139" name="Rectangle 23"/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0" name="Rectangle 24"/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4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451" y="407538"/>
            <a:ext cx="849666" cy="1428533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Box 6"/>
          <p:cNvSpPr txBox="1"/>
          <p:nvPr/>
        </p:nvSpPr>
        <p:spPr>
          <a:xfrm>
            <a:off x="847291" y="931303"/>
            <a:ext cx="886920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dirty="0"/>
              <a:t>Tools &amp; Technologies </a:t>
            </a:r>
            <a:r>
              <a:rPr b="0" dirty="0">
                <a:solidFill>
                  <a:srgbClr val="D938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Technology Stack Matrix</a:t>
            </a:r>
          </a:p>
        </p:txBody>
      </p:sp>
      <p:sp>
        <p:nvSpPr>
          <p:cNvPr id="3" name="Straight Connector 13">
            <a:extLst>
              <a:ext uri="{FF2B5EF4-FFF2-40B4-BE49-F238E27FC236}">
                <a16:creationId xmlns:a16="http://schemas.microsoft.com/office/drawing/2014/main" id="{AB32D521-E2B9-13C0-25CC-AAA639593DEF}"/>
              </a:ext>
            </a:extLst>
          </p:cNvPr>
          <p:cNvSpPr/>
          <p:nvPr/>
        </p:nvSpPr>
        <p:spPr>
          <a:xfrm flipV="1">
            <a:off x="720124" y="1364375"/>
            <a:ext cx="8789636" cy="45720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31C90E-CECF-2DD8-1C8F-C0D5D8FC06B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06A34-492D-E0E7-30E0-11BDB9B55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91" y="1690730"/>
            <a:ext cx="7390075" cy="4156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F069A-54CE-82E1-22AC-5026409DE0DB}"/>
              </a:ext>
            </a:extLst>
          </p:cNvPr>
          <p:cNvSpPr txBox="1"/>
          <p:nvPr/>
        </p:nvSpPr>
        <p:spPr>
          <a:xfrm>
            <a:off x="3585520" y="5746150"/>
            <a:ext cx="191361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40000"/>
                    <a:lumOff val="60000"/>
                  </a:schemeClr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Subject to Change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pic>
        <p:nvPicPr>
          <p:cNvPr id="1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330" y="423661"/>
            <a:ext cx="849666" cy="1376519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Box 2"/>
          <p:cNvSpPr txBox="1"/>
          <p:nvPr/>
        </p:nvSpPr>
        <p:spPr>
          <a:xfrm>
            <a:off x="847291" y="921419"/>
            <a:ext cx="879864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500" b="1">
                <a:solidFill>
                  <a:srgbClr val="0B2545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 dirty="0"/>
              <a:t>Project Work Status </a:t>
            </a:r>
            <a:r>
              <a:rPr b="0" dirty="0">
                <a:solidFill>
                  <a:srgbClr val="D938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Week-Wise Timeline Plan</a:t>
            </a:r>
          </a:p>
        </p:txBody>
      </p:sp>
      <p:sp>
        <p:nvSpPr>
          <p:cNvPr id="158" name="Slide Number Placeholder 24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BF901B85-837C-C45F-2D15-565ADFDDD1A3}"/>
              </a:ext>
            </a:extLst>
          </p:cNvPr>
          <p:cNvGrpSpPr/>
          <p:nvPr/>
        </p:nvGrpSpPr>
        <p:grpSpPr>
          <a:xfrm>
            <a:off x="313843" y="5489699"/>
            <a:ext cx="1066896" cy="1078156"/>
            <a:chOff x="0" y="0"/>
            <a:chExt cx="1066894" cy="1078155"/>
          </a:xfrm>
        </p:grpSpPr>
        <p:sp>
          <p:nvSpPr>
            <p:cNvPr id="3" name="Rectangle 23">
              <a:extLst>
                <a:ext uri="{FF2B5EF4-FFF2-40B4-BE49-F238E27FC236}">
                  <a16:creationId xmlns:a16="http://schemas.microsoft.com/office/drawing/2014/main" id="{9CD56F40-7D15-23D9-2CFD-9146838CDFB9}"/>
                </a:ext>
              </a:extLst>
            </p:cNvPr>
            <p:cNvSpPr/>
            <p:nvPr/>
          </p:nvSpPr>
          <p:spPr>
            <a:xfrm rot="5400000">
              <a:off x="510587" y="521848"/>
              <a:ext cx="45720" cy="1066895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2EB5D9C9-3818-B477-46EE-8D6810D8E242}"/>
                </a:ext>
              </a:extLst>
            </p:cNvPr>
            <p:cNvSpPr/>
            <p:nvPr/>
          </p:nvSpPr>
          <p:spPr>
            <a:xfrm rot="10800000">
              <a:off x="1" y="0"/>
              <a:ext cx="45719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273C9F55-AD2D-D65B-03F0-7E158001BC23}"/>
              </a:ext>
            </a:extLst>
          </p:cNvPr>
          <p:cNvSpPr/>
          <p:nvPr/>
        </p:nvSpPr>
        <p:spPr>
          <a:xfrm flipV="1">
            <a:off x="720124" y="1364374"/>
            <a:ext cx="8670366" cy="45721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F95B8-059D-48AC-C2FF-CD50577D5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24" y="1503546"/>
            <a:ext cx="8751147" cy="492513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Footer Placeholder 18"/>
          <p:cNvSpPr txBox="1"/>
          <p:nvPr/>
        </p:nvSpPr>
        <p:spPr>
          <a:xfrm>
            <a:off x="4084319" y="6261615"/>
            <a:ext cx="402336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r>
              <a:t>Department of Computer Applications</a:t>
            </a:r>
          </a:p>
        </p:txBody>
      </p:sp>
      <p:sp>
        <p:nvSpPr>
          <p:cNvPr id="161" name="Straight Connector 13"/>
          <p:cNvSpPr/>
          <p:nvPr/>
        </p:nvSpPr>
        <p:spPr>
          <a:xfrm flipV="1">
            <a:off x="4287946" y="3020911"/>
            <a:ext cx="4581450" cy="2"/>
          </a:xfrm>
          <a:prstGeom prst="line">
            <a:avLst/>
          </a:prstGeom>
          <a:ln w="38100">
            <a:solidFill>
              <a:srgbClr val="DFA267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6" name="Group 22"/>
          <p:cNvGrpSpPr/>
          <p:nvPr/>
        </p:nvGrpSpPr>
        <p:grpSpPr>
          <a:xfrm>
            <a:off x="313843" y="349465"/>
            <a:ext cx="11518409" cy="6218390"/>
            <a:chOff x="0" y="0"/>
            <a:chExt cx="11518407" cy="6218388"/>
          </a:xfrm>
        </p:grpSpPr>
        <p:sp>
          <p:nvSpPr>
            <p:cNvPr id="162" name="Rectangle 23"/>
            <p:cNvSpPr/>
            <p:nvPr/>
          </p:nvSpPr>
          <p:spPr>
            <a:xfrm>
              <a:off x="11472688" y="1125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3" name="Rectangle 24"/>
            <p:cNvSpPr/>
            <p:nvPr/>
          </p:nvSpPr>
          <p:spPr>
            <a:xfrm rot="5400000">
              <a:off x="10962100" y="-510589"/>
              <a:ext cx="45720" cy="1066896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4" name="Rectangle 25"/>
            <p:cNvSpPr/>
            <p:nvPr/>
          </p:nvSpPr>
          <p:spPr>
            <a:xfrm rot="5400000">
              <a:off x="510587" y="5662080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5" name="Rectangle 26"/>
            <p:cNvSpPr/>
            <p:nvPr/>
          </p:nvSpPr>
          <p:spPr>
            <a:xfrm rot="10800000">
              <a:off x="-1" y="5140232"/>
              <a:ext cx="45720" cy="1066897"/>
            </a:xfrm>
            <a:prstGeom prst="rect">
              <a:avLst/>
            </a:prstGeom>
            <a:solidFill>
              <a:srgbClr val="F4B1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67" name="Rectangle 18"/>
          <p:cNvSpPr txBox="1"/>
          <p:nvPr/>
        </p:nvSpPr>
        <p:spPr>
          <a:xfrm>
            <a:off x="4317762" y="2387192"/>
            <a:ext cx="7405773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 b="1">
                <a:solidFill>
                  <a:srgbClr val="C55A11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pic>
        <p:nvPicPr>
          <p:cNvPr id="16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60" y="1702366"/>
            <a:ext cx="2306319" cy="3548492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499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Consolas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Akira</dc:creator>
  <cp:lastModifiedBy>Akira Shi</cp:lastModifiedBy>
  <cp:revision>3</cp:revision>
  <dcterms:modified xsi:type="dcterms:W3CDTF">2026-08-18T06:09:43Z</dcterms:modified>
</cp:coreProperties>
</file>